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65" r:id="rId3"/>
    <p:sldId id="269" r:id="rId4"/>
    <p:sldId id="268" r:id="rId5"/>
    <p:sldId id="261" r:id="rId6"/>
    <p:sldId id="262" r:id="rId7"/>
    <p:sldId id="263" r:id="rId8"/>
    <p:sldId id="271" r:id="rId9"/>
    <p:sldId id="272" r:id="rId10"/>
    <p:sldId id="287" r:id="rId11"/>
    <p:sldId id="273" r:id="rId12"/>
    <p:sldId id="266" r:id="rId13"/>
    <p:sldId id="267" r:id="rId14"/>
    <p:sldId id="288" r:id="rId15"/>
    <p:sldId id="274" r:id="rId16"/>
    <p:sldId id="275" r:id="rId17"/>
    <p:sldId id="276" r:id="rId18"/>
    <p:sldId id="289" r:id="rId19"/>
    <p:sldId id="285" r:id="rId20"/>
    <p:sldId id="277" r:id="rId21"/>
    <p:sldId id="290" r:id="rId22"/>
    <p:sldId id="278" r:id="rId23"/>
    <p:sldId id="279" r:id="rId24"/>
    <p:sldId id="280" r:id="rId25"/>
    <p:sldId id="281" r:id="rId26"/>
    <p:sldId id="286" r:id="rId27"/>
    <p:sldId id="282" r:id="rId28"/>
    <p:sldId id="259" r:id="rId29"/>
  </p:sldIdLst>
  <p:sldSz cx="12192000" cy="6858000"/>
  <p:notesSz cx="6858000" cy="9144000"/>
  <p:embeddedFontLst>
    <p:embeddedFont>
      <p:font typeface="Lato Black" panose="020F0502020204030203" pitchFamily="34" charset="0"/>
      <p:bold r:id="rId31"/>
      <p:boldItalic r:id="rId32"/>
    </p:embeddedFont>
    <p:embeddedFont>
      <p:font typeface="Libre Baskerville" panose="02000000000000000000" pitchFamily="2" charset="0"/>
      <p:regular r:id="rId33"/>
      <p:bold r:id="rId34"/>
      <p: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59" d="100"/>
          <a:sy n="59" d="100"/>
        </p:scale>
        <p:origin x="83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github.com/reddykishore17" TargetMode="External"/><Relationship Id="rId5" Type="http://schemas.openxmlformats.org/officeDocument/2006/relationships/image" Target="../media/image4.jpg"/><Relationship Id="rId4" Type="http://schemas.openxmlformats.org/officeDocument/2006/relationships/hyperlink" Target="https://www.linkedin.com/in/reddy-kishore-seethi-1a02a4293?lipi=urn%3Ali%3Apage%3Ad_flagship3_profile_view_base_contact_details%3BL%2BPwtdoBRhiyj6wK0zi5wQ%3D%3D"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99" name="Google Shape;99;p1"/>
          <p:cNvSpPr txBox="1"/>
          <p:nvPr/>
        </p:nvSpPr>
        <p:spPr>
          <a:xfrm>
            <a:off x="2530928" y="3844986"/>
            <a:ext cx="7130143" cy="923289"/>
          </a:xfrm>
          <a:prstGeom prst="rect">
            <a:avLst/>
          </a:prstGeom>
          <a:solidFill>
            <a:schemeClr val="accent2">
              <a:lumMod val="20000"/>
              <a:lumOff val="80000"/>
            </a:schemeClr>
          </a:solidFill>
          <a:ln>
            <a:noFill/>
          </a:ln>
          <a:effectLst>
            <a:softEdge rad="139700"/>
          </a:effectLst>
          <a:scene3d>
            <a:camera prst="orthographicFront"/>
            <a:lightRig rig="threePt" dir="t"/>
          </a:scene3d>
          <a:sp3d>
            <a:bevelT w="152400" h="50800" prst="softRound"/>
            <a:bevelB w="101600" prst="riblet"/>
          </a:sp3d>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5400" b="1" dirty="0">
                <a:solidFill>
                  <a:srgbClr val="C00000"/>
                </a:solidFill>
                <a:latin typeface="Calibri"/>
                <a:ea typeface="Calibri"/>
                <a:cs typeface="Calibri"/>
                <a:sym typeface="Calibri"/>
              </a:rPr>
              <a:t>Grocery Store A</a:t>
            </a:r>
            <a:r>
              <a:rPr lang="en-IN" sz="5400" b="1" i="0" u="none" strike="noStrike" cap="none" dirty="0">
                <a:solidFill>
                  <a:srgbClr val="C00000"/>
                </a:solidFill>
                <a:latin typeface="Calibri"/>
                <a:ea typeface="Calibri"/>
                <a:cs typeface="Calibri"/>
                <a:sym typeface="Calibri"/>
              </a:rPr>
              <a:t>nalysis </a:t>
            </a:r>
            <a:endParaRPr sz="5400" b="1" i="0" u="none" strike="noStrike" cap="none" dirty="0">
              <a:solidFill>
                <a:srgbClr val="C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5000"/>
            <a:lum/>
          </a:blip>
          <a:srcRect/>
          <a:stretch>
            <a:fillRect/>
          </a:stretch>
        </a:blipFill>
        <a:effectLst/>
      </p:bgPr>
    </p:bg>
    <p:spTree>
      <p:nvGrpSpPr>
        <p:cNvPr id="1" name="Shape 103"/>
        <p:cNvGrpSpPr/>
        <p:nvPr/>
      </p:nvGrpSpPr>
      <p:grpSpPr>
        <a:xfrm>
          <a:off x="0" y="0"/>
          <a:ext cx="0" cy="0"/>
          <a:chOff x="0" y="0"/>
          <a:chExt cx="0" cy="0"/>
        </a:xfrm>
      </p:grpSpPr>
      <p:sp>
        <p:nvSpPr>
          <p:cNvPr id="104" name="Google Shape;104;p3"/>
          <p:cNvSpPr txBox="1"/>
          <p:nvPr/>
        </p:nvSpPr>
        <p:spPr>
          <a:xfrm>
            <a:off x="1087755" y="1108075"/>
            <a:ext cx="5402580" cy="1473835"/>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800"/>
              <a:buFont typeface="Arial" panose="020B0604020202020204"/>
              <a:buChar char="•"/>
            </a:pPr>
            <a:r>
              <a:rPr lang="en-US" sz="2400" b="1" dirty="0">
                <a:solidFill>
                  <a:schemeClr val="tx1">
                    <a:lumMod val="95000"/>
                    <a:lumOff val="5000"/>
                  </a:schemeClr>
                </a:solidFill>
                <a:latin typeface="Times New Roman" panose="02020603050405020304" charset="0"/>
                <a:ea typeface="Calibri" panose="020F0502020204030204"/>
                <a:cs typeface="Times New Roman" panose="02020603050405020304" charset="0"/>
                <a:sym typeface="Calibri" panose="020F0502020204030204"/>
              </a:rPr>
              <a:t>Name: S. Reddy Kishore</a:t>
            </a:r>
          </a:p>
          <a:p>
            <a:pPr marL="285750" marR="0" lvl="0" indent="-285750" algn="l" rtl="0">
              <a:spcBef>
                <a:spcPts val="0"/>
              </a:spcBef>
              <a:spcAft>
                <a:spcPts val="0"/>
              </a:spcAft>
              <a:buClr>
                <a:schemeClr val="dk1"/>
              </a:buClr>
              <a:buSzPts val="1800"/>
              <a:buFont typeface="Arial" panose="020B0604020202020204"/>
              <a:buChar char="•"/>
            </a:pPr>
            <a:r>
              <a:rPr lang="en-US" sz="2400" b="1" dirty="0">
                <a:solidFill>
                  <a:schemeClr val="tx1">
                    <a:lumMod val="95000"/>
                    <a:lumOff val="5000"/>
                  </a:schemeClr>
                </a:solidFill>
                <a:latin typeface="Times New Roman" panose="02020603050405020304" charset="0"/>
                <a:ea typeface="Calibri" panose="020F0502020204030204"/>
                <a:cs typeface="Times New Roman" panose="02020603050405020304" charset="0"/>
                <a:sym typeface="Calibri" panose="020F0502020204030204"/>
              </a:rPr>
              <a:t>Degree: </a:t>
            </a:r>
            <a:r>
              <a:rPr lang="en-US" sz="2400" b="1" dirty="0" err="1">
                <a:solidFill>
                  <a:schemeClr val="tx1">
                    <a:lumMod val="95000"/>
                    <a:lumOff val="5000"/>
                  </a:schemeClr>
                </a:solidFill>
                <a:latin typeface="Times New Roman" panose="02020603050405020304" charset="0"/>
                <a:ea typeface="Calibri" panose="020F0502020204030204"/>
                <a:cs typeface="Times New Roman" panose="02020603050405020304" charset="0"/>
                <a:sym typeface="Calibri" panose="020F0502020204030204"/>
              </a:rPr>
              <a:t>B.Tech</a:t>
            </a:r>
            <a:r>
              <a:rPr lang="en-US" sz="2400" b="1" dirty="0">
                <a:solidFill>
                  <a:schemeClr val="tx1">
                    <a:lumMod val="95000"/>
                    <a:lumOff val="5000"/>
                  </a:schemeClr>
                </a:solidFill>
                <a:latin typeface="Times New Roman" panose="02020603050405020304" charset="0"/>
                <a:ea typeface="Calibri" panose="020F0502020204030204"/>
                <a:cs typeface="Times New Roman" panose="02020603050405020304" charset="0"/>
                <a:sym typeface="Calibri" panose="020F0502020204030204"/>
              </a:rPr>
              <a:t> (CAI)</a:t>
            </a:r>
          </a:p>
          <a:p>
            <a:pPr marL="285750" marR="0" lvl="0" indent="-285750" algn="l" rtl="0">
              <a:spcBef>
                <a:spcPts val="0"/>
              </a:spcBef>
              <a:spcAft>
                <a:spcPts val="0"/>
              </a:spcAft>
              <a:buClr>
                <a:schemeClr val="dk1"/>
              </a:buClr>
              <a:buSzPts val="1800"/>
              <a:buFont typeface="Arial" panose="020B0604020202020204"/>
              <a:buChar char="•"/>
            </a:pPr>
            <a:r>
              <a:rPr lang="en-US" sz="2400" b="1" dirty="0">
                <a:solidFill>
                  <a:schemeClr val="tx1">
                    <a:lumMod val="95000"/>
                    <a:lumOff val="5000"/>
                  </a:schemeClr>
                </a:solidFill>
                <a:latin typeface="Times New Roman" panose="02020603050405020304" charset="0"/>
                <a:ea typeface="Calibri" panose="020F0502020204030204"/>
                <a:cs typeface="Times New Roman" panose="02020603050405020304" charset="0"/>
                <a:sym typeface="Calibri" panose="020F0502020204030204"/>
              </a:rPr>
              <a:t>College: MITS Autonomous College</a:t>
            </a:r>
          </a:p>
        </p:txBody>
      </p:sp>
      <p:sp>
        <p:nvSpPr>
          <p:cNvPr id="105" name="Google Shape;105;p3"/>
          <p:cNvSpPr txBox="1"/>
          <p:nvPr/>
        </p:nvSpPr>
        <p:spPr>
          <a:xfrm>
            <a:off x="427656" y="416554"/>
            <a:ext cx="6099463" cy="535491"/>
          </a:xfrm>
          <a:prstGeom prst="rect">
            <a:avLst/>
          </a:prstGeom>
          <a:noFill/>
          <a:ln>
            <a:noFill/>
          </a:ln>
        </p:spPr>
        <p:txBody>
          <a:bodyPr spcFirstLastPara="1" wrap="square" lIns="91425" tIns="45700" rIns="91425" bIns="45700" anchor="t" anchorCtr="0">
            <a:spAutoFit/>
          </a:bodyPr>
          <a:lstStyle/>
          <a:p>
            <a:pPr lvl="0">
              <a:lnSpc>
                <a:spcPct val="80000"/>
              </a:lnSpc>
              <a:buClr>
                <a:srgbClr val="FF0000"/>
              </a:buClr>
              <a:buSzPts val="3200"/>
            </a:pPr>
            <a:r>
              <a:rPr lang="en-IN" sz="3600" dirty="0">
                <a:solidFill>
                  <a:srgbClr val="FF0000"/>
                </a:solidFill>
                <a:latin typeface="Lato Black"/>
                <a:ea typeface="Lato Black"/>
                <a:cs typeface="Lato Black"/>
                <a:sym typeface="Lato Black"/>
              </a:rPr>
              <a:t>About me</a:t>
            </a:r>
            <a:endParaRPr lang="en-IN" sz="3600" dirty="0">
              <a:solidFill>
                <a:srgbClr val="FF0000"/>
              </a:solidFill>
              <a:latin typeface="Calibri"/>
              <a:ea typeface="Calibri"/>
              <a:cs typeface="Calibri"/>
              <a:sym typeface="Calibri"/>
            </a:endParaRPr>
          </a:p>
        </p:txBody>
      </p:sp>
      <p:sp>
        <p:nvSpPr>
          <p:cNvPr id="3" name="Text Box 2"/>
          <p:cNvSpPr txBox="1"/>
          <p:nvPr/>
        </p:nvSpPr>
        <p:spPr>
          <a:xfrm>
            <a:off x="1033780" y="2674620"/>
            <a:ext cx="10723880" cy="2545080"/>
          </a:xfrm>
          <a:prstGeom prst="rect">
            <a:avLst/>
          </a:prstGeom>
        </p:spPr>
        <p:txBody>
          <a:bodyPr wrap="square">
            <a:noAutofit/>
          </a:bodyPr>
          <a:lstStyle/>
          <a:p>
            <a:pPr algn="just"/>
            <a:r>
              <a:rPr lang="en-US" altLang="zh-CN" sz="2400" dirty="0">
                <a:latin typeface="Times New Roman" panose="02020603050405020304" pitchFamily="18" charset="0"/>
                <a:cs typeface="Times New Roman" panose="02020603050405020304" pitchFamily="18" charset="0"/>
              </a:rPr>
              <a:t>Hello, my name is Reddy Kishore </a:t>
            </a:r>
            <a:r>
              <a:rPr lang="en-US" altLang="zh-CN" sz="2400" dirty="0" err="1">
                <a:latin typeface="Times New Roman" panose="02020603050405020304" pitchFamily="18" charset="0"/>
                <a:cs typeface="Times New Roman" panose="02020603050405020304" pitchFamily="18" charset="0"/>
              </a:rPr>
              <a:t>Seethi</a:t>
            </a:r>
            <a:r>
              <a:rPr lang="en-US" altLang="zh-CN" sz="2400" dirty="0">
                <a:latin typeface="Times New Roman" panose="02020603050405020304" pitchFamily="18" charset="0"/>
                <a:cs typeface="Times New Roman" panose="02020603050405020304" pitchFamily="18" charset="0"/>
              </a:rPr>
              <a:t>. I am a </a:t>
            </a:r>
            <a:r>
              <a:rPr lang="en-US" altLang="zh-CN" sz="2400" dirty="0" err="1">
                <a:latin typeface="Times New Roman" panose="02020603050405020304" pitchFamily="18" charset="0"/>
                <a:cs typeface="Times New Roman" panose="02020603050405020304" pitchFamily="18" charset="0"/>
              </a:rPr>
              <a:t>B.Tech</a:t>
            </a:r>
            <a:r>
              <a:rPr lang="en-US" altLang="zh-CN" sz="2400" dirty="0">
                <a:latin typeface="Times New Roman" panose="02020603050405020304" pitchFamily="18" charset="0"/>
                <a:cs typeface="Times New Roman" panose="02020603050405020304" pitchFamily="18" charset="0"/>
              </a:rPr>
              <a:t> graduated student in the stream of Computer Science and Artificial intelligence department from </a:t>
            </a:r>
            <a:r>
              <a:rPr lang="en-US" altLang="zh-CN" sz="2400" dirty="0" err="1">
                <a:latin typeface="Times New Roman" panose="02020603050405020304" pitchFamily="18" charset="0"/>
                <a:cs typeface="Times New Roman" panose="02020603050405020304" pitchFamily="18" charset="0"/>
              </a:rPr>
              <a:t>Mits</a:t>
            </a:r>
            <a:r>
              <a:rPr lang="en-US" altLang="zh-CN" sz="2400" dirty="0">
                <a:latin typeface="Times New Roman" panose="02020603050405020304" pitchFamily="18" charset="0"/>
                <a:cs typeface="Times New Roman" panose="02020603050405020304" pitchFamily="18" charset="0"/>
              </a:rPr>
              <a:t> college.</a:t>
            </a:r>
            <a:r>
              <a:rPr lang="en-US" sz="2400" i="1" dirty="0">
                <a:latin typeface="Times New Roman" panose="02020603050405020304" pitchFamily="18" charset="0"/>
                <a:cs typeface="Times New Roman" panose="02020603050405020304" pitchFamily="18" charset="0"/>
              </a:rPr>
              <a:t> </a:t>
            </a:r>
          </a:p>
          <a:p>
            <a:pPr algn="just"/>
            <a:endParaRPr lang="en-US" sz="2400" i="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My primary motivation for pursuing data science is the desire to tackle complex, real-world challenges. I am fascinated by the power of data to reveal hidden patterns and provide evidence-based insights that can drive meaningful change.</a:t>
            </a:r>
            <a:endParaRPr lang="en-US" sz="2400" i="1" dirty="0">
              <a:latin typeface="Times New Roman" panose="02020603050405020304" pitchFamily="18" charset="0"/>
              <a:cs typeface="Times New Roman" panose="02020603050405020304" pitchFamily="18" charset="0"/>
            </a:endParaRPr>
          </a:p>
          <a:p>
            <a:pPr algn="just"/>
            <a:endParaRPr lang="en-US" altLang="zh-CN" sz="2000" dirty="0">
              <a:latin typeface="Times New Roman" panose="02020603050405020304" pitchFamily="18" charset="0"/>
              <a:cs typeface="Times New Roman" panose="02020603050405020304" pitchFamily="18" charset="0"/>
            </a:endParaRPr>
          </a:p>
        </p:txBody>
      </p:sp>
      <p:pic>
        <p:nvPicPr>
          <p:cNvPr id="6" name="Picture 5" descr="A blue circle with white letters&#10;&#10;AI-generated content may be incorrect.">
            <a:hlinkClick r:id="rId4"/>
            <a:extLst>
              <a:ext uri="{FF2B5EF4-FFF2-40B4-BE49-F238E27FC236}">
                <a16:creationId xmlns:a16="http://schemas.microsoft.com/office/drawing/2014/main" id="{ED2B7ECE-7FFD-9DFA-C02B-A61575CFCAA8}"/>
              </a:ext>
            </a:extLst>
          </p:cNvPr>
          <p:cNvPicPr>
            <a:picLocks noChangeAspect="1"/>
          </p:cNvPicPr>
          <p:nvPr/>
        </p:nvPicPr>
        <p:blipFill>
          <a:blip r:embed="rId5"/>
          <a:stretch>
            <a:fillRect/>
          </a:stretch>
        </p:blipFill>
        <p:spPr>
          <a:xfrm>
            <a:off x="1087755" y="5622790"/>
            <a:ext cx="626745" cy="626745"/>
          </a:xfrm>
          <a:prstGeom prst="rect">
            <a:avLst/>
          </a:prstGeom>
        </p:spPr>
      </p:pic>
      <p:pic>
        <p:nvPicPr>
          <p:cNvPr id="8" name="Picture 7" descr="A logo of a cat&#10;&#10;AI-generated content may be incorrect.">
            <a:hlinkClick r:id="rId6"/>
            <a:extLst>
              <a:ext uri="{FF2B5EF4-FFF2-40B4-BE49-F238E27FC236}">
                <a16:creationId xmlns:a16="http://schemas.microsoft.com/office/drawing/2014/main" id="{105CCF66-E5AE-27B8-E3F0-2FF6DBC9F98C}"/>
              </a:ext>
            </a:extLst>
          </p:cNvPr>
          <p:cNvPicPr>
            <a:picLocks noChangeAspect="1"/>
          </p:cNvPicPr>
          <p:nvPr/>
        </p:nvPicPr>
        <p:blipFill>
          <a:blip r:embed="rId7"/>
          <a:stretch>
            <a:fillRect/>
          </a:stretch>
        </p:blipFill>
        <p:spPr>
          <a:xfrm>
            <a:off x="2165536" y="5598575"/>
            <a:ext cx="936894" cy="6509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F1E73-FB10-E0CB-0736-F5466C0DDB2C}"/>
              </a:ext>
            </a:extLst>
          </p:cNvPr>
          <p:cNvSpPr>
            <a:spLocks noGrp="1"/>
          </p:cNvSpPr>
          <p:nvPr>
            <p:ph type="title"/>
          </p:nvPr>
        </p:nvSpPr>
        <p:spPr>
          <a:xfrm>
            <a:off x="838200" y="206830"/>
            <a:ext cx="10515600" cy="870856"/>
          </a:xfrm>
        </p:spPr>
        <p:txBody>
          <a:bodyPr>
            <a:normAutofit/>
          </a:bodyPr>
          <a:lstStyle/>
          <a:p>
            <a:r>
              <a:rPr lang="en-IN" sz="4000" b="1" dirty="0">
                <a:solidFill>
                  <a:srgbClr val="FF0000"/>
                </a:solidFill>
              </a:rPr>
              <a:t>Objectives of the Project</a:t>
            </a:r>
            <a:endParaRPr lang="en-IN" sz="4000" dirty="0"/>
          </a:p>
        </p:txBody>
      </p:sp>
      <p:sp>
        <p:nvSpPr>
          <p:cNvPr id="3" name="Text Placeholder 2">
            <a:extLst>
              <a:ext uri="{FF2B5EF4-FFF2-40B4-BE49-F238E27FC236}">
                <a16:creationId xmlns:a16="http://schemas.microsoft.com/office/drawing/2014/main" id="{C3AF196B-A354-8ACF-6EB0-63D341F6F5BC}"/>
              </a:ext>
            </a:extLst>
          </p:cNvPr>
          <p:cNvSpPr>
            <a:spLocks noGrp="1"/>
          </p:cNvSpPr>
          <p:nvPr>
            <p:ph type="body" idx="1"/>
          </p:nvPr>
        </p:nvSpPr>
        <p:spPr>
          <a:xfrm>
            <a:off x="838200" y="1077686"/>
            <a:ext cx="10515600" cy="5099277"/>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The main goal is to use SQL to analyze the grocery store's data and find ways to improve the business.</a:t>
            </a:r>
          </a:p>
          <a:p>
            <a:r>
              <a:rPr lang="en-US" b="1" dirty="0">
                <a:latin typeface="Times New Roman" panose="02020603050405020304" pitchFamily="18" charset="0"/>
                <a:cs typeface="Times New Roman" panose="02020603050405020304" pitchFamily="18" charset="0"/>
              </a:rPr>
              <a:t>Analyze Sales: </a:t>
            </a:r>
            <a:r>
              <a:rPr lang="en-US" dirty="0">
                <a:latin typeface="Times New Roman" panose="02020603050405020304" pitchFamily="18" charset="0"/>
                <a:cs typeface="Times New Roman" panose="02020603050405020304" pitchFamily="18" charset="0"/>
              </a:rPr>
              <a:t>Find out which products sell best and identify sales patterns.</a:t>
            </a:r>
          </a:p>
          <a:p>
            <a:r>
              <a:rPr lang="en-US" b="1" dirty="0">
                <a:latin typeface="Times New Roman" panose="02020603050405020304" pitchFamily="18" charset="0"/>
                <a:cs typeface="Times New Roman" panose="02020603050405020304" pitchFamily="18" charset="0"/>
              </a:rPr>
              <a:t>Understand Customers</a:t>
            </a:r>
            <a:r>
              <a:rPr lang="en-US" dirty="0">
                <a:latin typeface="Times New Roman" panose="02020603050405020304" pitchFamily="18" charset="0"/>
                <a:cs typeface="Times New Roman" panose="02020603050405020304" pitchFamily="18" charset="0"/>
              </a:rPr>
              <a:t>: Discover who the most valuable customers are and what they buy.</a:t>
            </a:r>
          </a:p>
          <a:p>
            <a:r>
              <a:rPr lang="en-US" b="1" dirty="0">
                <a:latin typeface="Times New Roman" panose="02020603050405020304" pitchFamily="18" charset="0"/>
                <a:cs typeface="Times New Roman" panose="02020603050405020304" pitchFamily="18" charset="0"/>
              </a:rPr>
              <a:t>Improve Inventory: </a:t>
            </a:r>
            <a:r>
              <a:rPr lang="en-US" dirty="0">
                <a:latin typeface="Times New Roman" panose="02020603050405020304" pitchFamily="18" charset="0"/>
                <a:cs typeface="Times New Roman" panose="02020603050405020304" pitchFamily="18" charset="0"/>
              </a:rPr>
              <a:t>See which product categories are most popular to manage stock better.</a:t>
            </a:r>
          </a:p>
          <a:p>
            <a:r>
              <a:rPr lang="en-US" b="1" dirty="0">
                <a:latin typeface="Times New Roman" panose="02020603050405020304" pitchFamily="18" charset="0"/>
                <a:cs typeface="Times New Roman" panose="02020603050405020304" pitchFamily="18" charset="0"/>
              </a:rPr>
              <a:t>Optimize Supplier Relationships: </a:t>
            </a:r>
            <a:r>
              <a:rPr lang="en-US" dirty="0">
                <a:latin typeface="Times New Roman" panose="02020603050405020304" pitchFamily="18" charset="0"/>
                <a:cs typeface="Times New Roman" panose="02020603050405020304" pitchFamily="18" charset="0"/>
              </a:rPr>
              <a:t>Evaluate which suppliers provide the most profitable and popular products to strengthen key partnerships and improve the supply chain.</a:t>
            </a:r>
          </a:p>
          <a:p>
            <a:r>
              <a:rPr lang="en-US" b="1" dirty="0">
                <a:latin typeface="Times New Roman" panose="02020603050405020304" pitchFamily="18" charset="0"/>
                <a:cs typeface="Times New Roman" panose="02020603050405020304" pitchFamily="18" charset="0"/>
              </a:rPr>
              <a:t>Provide Recommendations: </a:t>
            </a:r>
            <a:r>
              <a:rPr lang="en-US" dirty="0">
                <a:latin typeface="Times New Roman" panose="02020603050405020304" pitchFamily="18" charset="0"/>
                <a:cs typeface="Times New Roman" panose="02020603050405020304" pitchFamily="18" charset="0"/>
              </a:rPr>
              <a:t>Use the findings to suggest ways to increase sales and customer satisfaction.</a:t>
            </a:r>
          </a:p>
        </p:txBody>
      </p:sp>
    </p:spTree>
    <p:extLst>
      <p:ext uri="{BB962C8B-B14F-4D97-AF65-F5344CB8AC3E}">
        <p14:creationId xmlns:p14="http://schemas.microsoft.com/office/powerpoint/2010/main" val="4011583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319D1-0F85-9D82-6685-3EB7D47EAF52}"/>
              </a:ext>
            </a:extLst>
          </p:cNvPr>
          <p:cNvSpPr>
            <a:spLocks noGrp="1"/>
          </p:cNvSpPr>
          <p:nvPr>
            <p:ph type="title"/>
          </p:nvPr>
        </p:nvSpPr>
        <p:spPr>
          <a:xfrm>
            <a:off x="838200" y="1"/>
            <a:ext cx="10515600" cy="812799"/>
          </a:xfrm>
        </p:spPr>
        <p:txBody>
          <a:bodyPr>
            <a:normAutofit/>
          </a:bodyPr>
          <a:lstStyle/>
          <a:p>
            <a:pPr algn="ctr"/>
            <a:r>
              <a:rPr lang="en-IN" b="1" dirty="0">
                <a:solidFill>
                  <a:srgbClr val="FF0000"/>
                </a:solidFill>
              </a:rPr>
              <a:t> ER Diagram</a:t>
            </a:r>
            <a:endParaRPr lang="en-IN" dirty="0">
              <a:solidFill>
                <a:schemeClr val="accent2">
                  <a:lumMod val="50000"/>
                </a:schemeClr>
              </a:solidFill>
            </a:endParaRPr>
          </a:p>
        </p:txBody>
      </p:sp>
      <p:pic>
        <p:nvPicPr>
          <p:cNvPr id="5" name="Picture 4">
            <a:extLst>
              <a:ext uri="{FF2B5EF4-FFF2-40B4-BE49-F238E27FC236}">
                <a16:creationId xmlns:a16="http://schemas.microsoft.com/office/drawing/2014/main" id="{9BB25593-EA91-7BB7-B459-68C84D09717A}"/>
              </a:ext>
            </a:extLst>
          </p:cNvPr>
          <p:cNvPicPr>
            <a:picLocks noChangeAspect="1"/>
          </p:cNvPicPr>
          <p:nvPr/>
        </p:nvPicPr>
        <p:blipFill>
          <a:blip r:embed="rId2"/>
          <a:stretch>
            <a:fillRect/>
          </a:stretch>
        </p:blipFill>
        <p:spPr>
          <a:xfrm>
            <a:off x="1636597" y="727322"/>
            <a:ext cx="9140260" cy="5521078"/>
          </a:xfrm>
          <a:prstGeom prst="rect">
            <a:avLst/>
          </a:prstGeom>
        </p:spPr>
      </p:pic>
    </p:spTree>
    <p:extLst>
      <p:ext uri="{BB962C8B-B14F-4D97-AF65-F5344CB8AC3E}">
        <p14:creationId xmlns:p14="http://schemas.microsoft.com/office/powerpoint/2010/main" val="108864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8B0240-F3B2-23C3-D556-532B7C58BE16}"/>
              </a:ext>
            </a:extLst>
          </p:cNvPr>
          <p:cNvSpPr/>
          <p:nvPr/>
        </p:nvSpPr>
        <p:spPr>
          <a:xfrm>
            <a:off x="-26319" y="0"/>
            <a:ext cx="2971800"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2C36853-6A7E-F9B2-13E6-D3C7766FDD8E}"/>
              </a:ext>
            </a:extLst>
          </p:cNvPr>
          <p:cNvSpPr/>
          <p:nvPr/>
        </p:nvSpPr>
        <p:spPr>
          <a:xfrm>
            <a:off x="2897803" y="0"/>
            <a:ext cx="3119457" cy="6858000"/>
          </a:xfrm>
          <a:prstGeom prst="rect">
            <a:avLst/>
          </a:prstGeom>
          <a:solidFill>
            <a:srgbClr val="002060">
              <a:alpha val="8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4" name="Rectangle 3">
            <a:extLst>
              <a:ext uri="{FF2B5EF4-FFF2-40B4-BE49-F238E27FC236}">
                <a16:creationId xmlns:a16="http://schemas.microsoft.com/office/drawing/2014/main" id="{C5A6506E-400B-E602-E479-820C0D4D2ACC}"/>
              </a:ext>
            </a:extLst>
          </p:cNvPr>
          <p:cNvSpPr/>
          <p:nvPr/>
        </p:nvSpPr>
        <p:spPr>
          <a:xfrm>
            <a:off x="6020509" y="1"/>
            <a:ext cx="3199692" cy="6858000"/>
          </a:xfrm>
          <a:prstGeom prst="rect">
            <a:avLst/>
          </a:prstGeom>
          <a:solidFill>
            <a:srgbClr val="002060">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683C5654-CEEB-D58B-578B-F25E5BF93B4B}"/>
              </a:ext>
            </a:extLst>
          </p:cNvPr>
          <p:cNvSpPr/>
          <p:nvPr/>
        </p:nvSpPr>
        <p:spPr>
          <a:xfrm>
            <a:off x="9220200" y="0"/>
            <a:ext cx="2971800" cy="6858000"/>
          </a:xfrm>
          <a:prstGeom prst="rect">
            <a:avLst/>
          </a:prstGeom>
          <a:solidFill>
            <a:srgbClr val="002060">
              <a:alpha val="5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E3CB0DBC-09EF-C64B-17E6-23C8826F9602}"/>
              </a:ext>
            </a:extLst>
          </p:cNvPr>
          <p:cNvSpPr txBox="1"/>
          <p:nvPr/>
        </p:nvSpPr>
        <p:spPr>
          <a:xfrm>
            <a:off x="599538" y="998640"/>
            <a:ext cx="2028468" cy="523220"/>
          </a:xfrm>
          <a:prstGeom prst="rect">
            <a:avLst/>
          </a:prstGeom>
          <a:noFill/>
          <a:ln>
            <a:noFill/>
          </a:ln>
        </p:spPr>
        <p:txBody>
          <a:bodyPr wrap="square" rtlCol="0">
            <a:spAutoFit/>
          </a:bodyPr>
          <a:lstStyle/>
          <a:p>
            <a:r>
              <a:rPr lang="en-US" sz="2800" b="1" dirty="0">
                <a:solidFill>
                  <a:schemeClr val="bg1"/>
                </a:solidFill>
              </a:rPr>
              <a:t>Suppliers </a:t>
            </a:r>
            <a:endParaRPr lang="en-IN" sz="2800" b="1" dirty="0">
              <a:solidFill>
                <a:schemeClr val="bg1"/>
              </a:solidFill>
            </a:endParaRPr>
          </a:p>
        </p:txBody>
      </p:sp>
      <p:sp>
        <p:nvSpPr>
          <p:cNvPr id="11" name="TextBox 10">
            <a:extLst>
              <a:ext uri="{FF2B5EF4-FFF2-40B4-BE49-F238E27FC236}">
                <a16:creationId xmlns:a16="http://schemas.microsoft.com/office/drawing/2014/main" id="{0C330429-A3B5-CA7E-3987-6A5A2113050F}"/>
              </a:ext>
            </a:extLst>
          </p:cNvPr>
          <p:cNvSpPr txBox="1"/>
          <p:nvPr/>
        </p:nvSpPr>
        <p:spPr>
          <a:xfrm>
            <a:off x="3484245" y="998640"/>
            <a:ext cx="2168035" cy="523220"/>
          </a:xfrm>
          <a:prstGeom prst="rect">
            <a:avLst/>
          </a:prstGeom>
          <a:noFill/>
          <a:ln>
            <a:noFill/>
          </a:ln>
        </p:spPr>
        <p:txBody>
          <a:bodyPr wrap="square" rtlCol="0">
            <a:spAutoFit/>
          </a:bodyPr>
          <a:lstStyle/>
          <a:p>
            <a:pPr algn="ctr"/>
            <a:r>
              <a:rPr lang="en-US" sz="2800" b="1" dirty="0">
                <a:solidFill>
                  <a:schemeClr val="bg1"/>
                </a:solidFill>
              </a:rPr>
              <a:t>Categories </a:t>
            </a:r>
            <a:endParaRPr lang="en-IN" sz="2800" b="1" dirty="0">
              <a:solidFill>
                <a:schemeClr val="bg1"/>
              </a:solidFill>
            </a:endParaRPr>
          </a:p>
        </p:txBody>
      </p:sp>
      <p:sp>
        <p:nvSpPr>
          <p:cNvPr id="12" name="TextBox 11">
            <a:extLst>
              <a:ext uri="{FF2B5EF4-FFF2-40B4-BE49-F238E27FC236}">
                <a16:creationId xmlns:a16="http://schemas.microsoft.com/office/drawing/2014/main" id="{3A75A68C-57D7-1D87-1826-738E7AD6CC3D}"/>
              </a:ext>
            </a:extLst>
          </p:cNvPr>
          <p:cNvSpPr txBox="1"/>
          <p:nvPr/>
        </p:nvSpPr>
        <p:spPr>
          <a:xfrm>
            <a:off x="6493544" y="998640"/>
            <a:ext cx="2313185" cy="523220"/>
          </a:xfrm>
          <a:prstGeom prst="rect">
            <a:avLst/>
          </a:prstGeom>
          <a:noFill/>
          <a:ln>
            <a:noFill/>
          </a:ln>
        </p:spPr>
        <p:txBody>
          <a:bodyPr wrap="square" rtlCol="0">
            <a:spAutoFit/>
          </a:bodyPr>
          <a:lstStyle/>
          <a:p>
            <a:pPr algn="ctr"/>
            <a:r>
              <a:rPr lang="en-US" sz="2800" b="1" dirty="0">
                <a:solidFill>
                  <a:schemeClr val="bg1"/>
                </a:solidFill>
              </a:rPr>
              <a:t>Employees </a:t>
            </a:r>
            <a:endParaRPr lang="en-IN" sz="2800" b="1" dirty="0">
              <a:solidFill>
                <a:schemeClr val="bg1"/>
              </a:solidFill>
            </a:endParaRPr>
          </a:p>
        </p:txBody>
      </p:sp>
      <p:sp>
        <p:nvSpPr>
          <p:cNvPr id="13" name="TextBox 12">
            <a:extLst>
              <a:ext uri="{FF2B5EF4-FFF2-40B4-BE49-F238E27FC236}">
                <a16:creationId xmlns:a16="http://schemas.microsoft.com/office/drawing/2014/main" id="{837FC597-EF9C-E9A2-C6B9-2933FBA8F598}"/>
              </a:ext>
            </a:extLst>
          </p:cNvPr>
          <p:cNvSpPr txBox="1"/>
          <p:nvPr/>
        </p:nvSpPr>
        <p:spPr>
          <a:xfrm>
            <a:off x="9686113" y="998640"/>
            <a:ext cx="2106386" cy="523220"/>
          </a:xfrm>
          <a:prstGeom prst="rect">
            <a:avLst/>
          </a:prstGeom>
          <a:noFill/>
          <a:ln>
            <a:noFill/>
          </a:ln>
        </p:spPr>
        <p:txBody>
          <a:bodyPr wrap="square" rtlCol="0">
            <a:spAutoFit/>
          </a:bodyPr>
          <a:lstStyle/>
          <a:p>
            <a:pPr algn="ctr"/>
            <a:r>
              <a:rPr lang="en-US" sz="2800" b="1" dirty="0">
                <a:solidFill>
                  <a:schemeClr val="bg1"/>
                </a:solidFill>
              </a:rPr>
              <a:t>Customers </a:t>
            </a:r>
            <a:endParaRPr lang="en-IN" sz="2800" b="1" dirty="0">
              <a:solidFill>
                <a:schemeClr val="bg1"/>
              </a:solidFill>
            </a:endParaRPr>
          </a:p>
        </p:txBody>
      </p:sp>
      <p:pic>
        <p:nvPicPr>
          <p:cNvPr id="15" name="Picture 14" descr="A screenshot of a computer&#10;&#10;AI-generated content may be incorrect.">
            <a:extLst>
              <a:ext uri="{FF2B5EF4-FFF2-40B4-BE49-F238E27FC236}">
                <a16:creationId xmlns:a16="http://schemas.microsoft.com/office/drawing/2014/main" id="{44975616-923A-0186-79C7-88CA89BBD5A1}"/>
              </a:ext>
            </a:extLst>
          </p:cNvPr>
          <p:cNvPicPr>
            <a:picLocks noChangeAspect="1"/>
          </p:cNvPicPr>
          <p:nvPr/>
        </p:nvPicPr>
        <p:blipFill>
          <a:blip r:embed="rId2"/>
          <a:stretch>
            <a:fillRect/>
          </a:stretch>
        </p:blipFill>
        <p:spPr>
          <a:xfrm>
            <a:off x="24175" y="1702956"/>
            <a:ext cx="2918057" cy="1635088"/>
          </a:xfrm>
          <a:prstGeom prst="rect">
            <a:avLst/>
          </a:prstGeom>
        </p:spPr>
      </p:pic>
      <p:pic>
        <p:nvPicPr>
          <p:cNvPr id="17" name="Picture 16" descr="A screenshot of a computer&#10;&#10;AI-generated content may be incorrect.">
            <a:extLst>
              <a:ext uri="{FF2B5EF4-FFF2-40B4-BE49-F238E27FC236}">
                <a16:creationId xmlns:a16="http://schemas.microsoft.com/office/drawing/2014/main" id="{08BA7191-1E11-326E-378D-E3AB47D58E57}"/>
              </a:ext>
            </a:extLst>
          </p:cNvPr>
          <p:cNvPicPr>
            <a:picLocks noChangeAspect="1"/>
          </p:cNvPicPr>
          <p:nvPr/>
        </p:nvPicPr>
        <p:blipFill>
          <a:blip r:embed="rId3"/>
          <a:stretch>
            <a:fillRect/>
          </a:stretch>
        </p:blipFill>
        <p:spPr>
          <a:xfrm>
            <a:off x="3003221" y="1741151"/>
            <a:ext cx="2982685" cy="1635088"/>
          </a:xfrm>
          <a:prstGeom prst="rect">
            <a:avLst/>
          </a:prstGeom>
        </p:spPr>
      </p:pic>
      <p:pic>
        <p:nvPicPr>
          <p:cNvPr id="25" name="Picture 24" descr="A screenshot of a computer&#10;&#10;AI-generated content may be incorrect.">
            <a:extLst>
              <a:ext uri="{FF2B5EF4-FFF2-40B4-BE49-F238E27FC236}">
                <a16:creationId xmlns:a16="http://schemas.microsoft.com/office/drawing/2014/main" id="{97CFEEE3-0FEF-2C27-443B-29E68833C9EF}"/>
              </a:ext>
            </a:extLst>
          </p:cNvPr>
          <p:cNvPicPr>
            <a:picLocks noChangeAspect="1"/>
          </p:cNvPicPr>
          <p:nvPr/>
        </p:nvPicPr>
        <p:blipFill>
          <a:blip r:embed="rId4"/>
          <a:stretch>
            <a:fillRect/>
          </a:stretch>
        </p:blipFill>
        <p:spPr>
          <a:xfrm>
            <a:off x="9254804" y="1737298"/>
            <a:ext cx="2880109" cy="1635088"/>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0B288C0C-F9C3-54C6-56A6-3A7CC1B42AD8}"/>
              </a:ext>
            </a:extLst>
          </p:cNvPr>
          <p:cNvPicPr>
            <a:picLocks noChangeAspect="1"/>
          </p:cNvPicPr>
          <p:nvPr/>
        </p:nvPicPr>
        <p:blipFill>
          <a:blip r:embed="rId5"/>
          <a:stretch>
            <a:fillRect/>
          </a:stretch>
        </p:blipFill>
        <p:spPr>
          <a:xfrm>
            <a:off x="6149608" y="1737298"/>
            <a:ext cx="2951760" cy="1635088"/>
          </a:xfrm>
          <a:prstGeom prst="rect">
            <a:avLst/>
          </a:prstGeom>
        </p:spPr>
      </p:pic>
      <p:sp>
        <p:nvSpPr>
          <p:cNvPr id="31" name="TextBox 30">
            <a:extLst>
              <a:ext uri="{FF2B5EF4-FFF2-40B4-BE49-F238E27FC236}">
                <a16:creationId xmlns:a16="http://schemas.microsoft.com/office/drawing/2014/main" id="{4D9B9FCD-1C3E-07C3-83BA-1AC59643DBAF}"/>
              </a:ext>
            </a:extLst>
          </p:cNvPr>
          <p:cNvSpPr txBox="1"/>
          <p:nvPr/>
        </p:nvSpPr>
        <p:spPr>
          <a:xfrm>
            <a:off x="3974448" y="183666"/>
            <a:ext cx="4310742" cy="769441"/>
          </a:xfrm>
          <a:prstGeom prst="rect">
            <a:avLst/>
          </a:prstGeom>
          <a:noFill/>
          <a:ln>
            <a:noFill/>
          </a:ln>
        </p:spPr>
        <p:txBody>
          <a:bodyPr wrap="square" rtlCol="0">
            <a:spAutoFit/>
          </a:bodyPr>
          <a:lstStyle/>
          <a:p>
            <a:pPr algn="ctr"/>
            <a:r>
              <a:rPr lang="en-US" sz="4400" b="1" dirty="0">
                <a:solidFill>
                  <a:schemeClr val="accent2">
                    <a:lumMod val="60000"/>
                    <a:lumOff val="40000"/>
                  </a:schemeClr>
                </a:solidFill>
              </a:rPr>
              <a:t>About Tables </a:t>
            </a:r>
            <a:endParaRPr lang="en-IN" sz="4400" b="1" dirty="0">
              <a:solidFill>
                <a:schemeClr val="accent2">
                  <a:lumMod val="60000"/>
                  <a:lumOff val="40000"/>
                </a:schemeClr>
              </a:solidFill>
            </a:endParaRPr>
          </a:p>
        </p:txBody>
      </p:sp>
      <p:sp>
        <p:nvSpPr>
          <p:cNvPr id="33" name="TextBox 32">
            <a:extLst>
              <a:ext uri="{FF2B5EF4-FFF2-40B4-BE49-F238E27FC236}">
                <a16:creationId xmlns:a16="http://schemas.microsoft.com/office/drawing/2014/main" id="{D04B25A9-AF91-7BEE-43FA-721205D3B596}"/>
              </a:ext>
            </a:extLst>
          </p:cNvPr>
          <p:cNvSpPr txBox="1"/>
          <p:nvPr/>
        </p:nvSpPr>
        <p:spPr>
          <a:xfrm>
            <a:off x="24176" y="3519140"/>
            <a:ext cx="2823132" cy="3477875"/>
          </a:xfrm>
          <a:prstGeom prst="rect">
            <a:avLst/>
          </a:prstGeom>
          <a:noFill/>
        </p:spPr>
        <p:txBody>
          <a:bodyPr wrap="square" rtlCol="0">
            <a:spAutoFit/>
          </a:bodyPr>
          <a:lstStyle/>
          <a:p>
            <a:pPr lvl="1"/>
            <a:r>
              <a:rPr lang="en-US" sz="2000" b="1" dirty="0">
                <a:solidFill>
                  <a:schemeClr val="bg1"/>
                </a:solidFill>
                <a:latin typeface="Times New Roman" panose="02020603050405020304" pitchFamily="18" charset="0"/>
                <a:cs typeface="Times New Roman" panose="02020603050405020304" pitchFamily="18" charset="0"/>
              </a:rPr>
              <a:t>Purpose: </a:t>
            </a:r>
            <a:r>
              <a:rPr lang="en-US" sz="2000" dirty="0">
                <a:solidFill>
                  <a:schemeClr val="bg1"/>
                </a:solidFill>
                <a:latin typeface="Times New Roman" panose="02020603050405020304" pitchFamily="18" charset="0"/>
                <a:cs typeface="Times New Roman" panose="02020603050405020304" pitchFamily="18" charset="0"/>
              </a:rPr>
              <a:t>Holds information about the suppliers who provide the products</a:t>
            </a:r>
            <a:r>
              <a:rPr lang="en-US" sz="2000" b="1" dirty="0">
                <a:solidFill>
                  <a:schemeClr val="bg1"/>
                </a:solidFill>
                <a:latin typeface="Times New Roman" panose="02020603050405020304" pitchFamily="18" charset="0"/>
                <a:cs typeface="Times New Roman" panose="02020603050405020304" pitchFamily="18" charset="0"/>
              </a:rPr>
              <a:t>.</a:t>
            </a:r>
          </a:p>
          <a:p>
            <a:pPr lvl="1"/>
            <a:r>
              <a:rPr lang="en-US" sz="2000" b="1" dirty="0">
                <a:solidFill>
                  <a:schemeClr val="bg1"/>
                </a:solidFill>
                <a:latin typeface="Times New Roman" panose="02020603050405020304" pitchFamily="18" charset="0"/>
                <a:cs typeface="Times New Roman" panose="02020603050405020304" pitchFamily="18" charset="0"/>
              </a:rPr>
              <a:t>Key Columns: </a:t>
            </a:r>
            <a:r>
              <a:rPr lang="en-US" sz="2000" dirty="0" err="1">
                <a:solidFill>
                  <a:schemeClr val="bg1"/>
                </a:solidFill>
                <a:latin typeface="Times New Roman" panose="02020603050405020304" pitchFamily="18" charset="0"/>
                <a:cs typeface="Times New Roman" panose="02020603050405020304" pitchFamily="18" charset="0"/>
              </a:rPr>
              <a:t>Sup_id</a:t>
            </a:r>
            <a:r>
              <a:rPr lang="en-US" sz="2000" dirty="0">
                <a:solidFill>
                  <a:schemeClr val="bg1"/>
                </a:solidFill>
                <a:latin typeface="Times New Roman" panose="02020603050405020304" pitchFamily="18" charset="0"/>
                <a:cs typeface="Times New Roman" panose="02020603050405020304" pitchFamily="18" charset="0"/>
              </a:rPr>
              <a:t> (unique ID for each supplier), </a:t>
            </a:r>
            <a:r>
              <a:rPr lang="en-US" sz="2000" dirty="0" err="1">
                <a:solidFill>
                  <a:schemeClr val="bg1"/>
                </a:solidFill>
                <a:latin typeface="Times New Roman" panose="02020603050405020304" pitchFamily="18" charset="0"/>
                <a:cs typeface="Times New Roman" panose="02020603050405020304" pitchFamily="18" charset="0"/>
              </a:rPr>
              <a:t>Sup_name</a:t>
            </a:r>
            <a:r>
              <a:rPr lang="en-US" sz="2000" dirty="0">
                <a:solidFill>
                  <a:schemeClr val="bg1"/>
                </a:solidFill>
                <a:latin typeface="Times New Roman" panose="02020603050405020304" pitchFamily="18" charset="0"/>
                <a:cs typeface="Times New Roman" panose="02020603050405020304" pitchFamily="18" charset="0"/>
              </a:rPr>
              <a:t>, address.</a:t>
            </a:r>
          </a:p>
          <a:p>
            <a:br>
              <a:rPr lang="en-US" sz="2000" dirty="0">
                <a:solidFill>
                  <a:schemeClr val="bg1"/>
                </a:solidFill>
                <a:latin typeface="Times New Roman" panose="02020603050405020304" pitchFamily="18" charset="0"/>
                <a:cs typeface="Times New Roman" panose="02020603050405020304" pitchFamily="18" charset="0"/>
              </a:rPr>
            </a:b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E970AC4B-4700-67E1-EE02-998FDEFF80A0}"/>
              </a:ext>
            </a:extLst>
          </p:cNvPr>
          <p:cNvSpPr txBox="1"/>
          <p:nvPr/>
        </p:nvSpPr>
        <p:spPr>
          <a:xfrm>
            <a:off x="3099204" y="3562976"/>
            <a:ext cx="2823132" cy="2246769"/>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Purpose:</a:t>
            </a:r>
            <a:r>
              <a:rPr lang="en-US" sz="2000" dirty="0">
                <a:solidFill>
                  <a:schemeClr val="bg1"/>
                </a:solidFill>
                <a:latin typeface="Times New Roman" panose="02020603050405020304" pitchFamily="18" charset="0"/>
                <a:cs typeface="Times New Roman" panose="02020603050405020304" pitchFamily="18" charset="0"/>
              </a:rPr>
              <a:t> Groups products into categories (e.g., "Dairy," "Bakery").</a:t>
            </a:r>
          </a:p>
          <a:p>
            <a:r>
              <a:rPr lang="en-US" sz="2000" b="1" dirty="0">
                <a:solidFill>
                  <a:schemeClr val="bg1"/>
                </a:solidFill>
                <a:latin typeface="Times New Roman" panose="02020603050405020304" pitchFamily="18" charset="0"/>
                <a:cs typeface="Times New Roman" panose="02020603050405020304" pitchFamily="18" charset="0"/>
              </a:rPr>
              <a:t>Key</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Columns</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cat_id</a:t>
            </a:r>
            <a:r>
              <a:rPr lang="en-US" sz="2000" dirty="0">
                <a:solidFill>
                  <a:schemeClr val="bg1"/>
                </a:solidFill>
                <a:latin typeface="Times New Roman" panose="02020603050405020304" pitchFamily="18" charset="0"/>
                <a:cs typeface="Times New Roman" panose="02020603050405020304" pitchFamily="18" charset="0"/>
              </a:rPr>
              <a:t> (unique ID for the category), </a:t>
            </a:r>
            <a:r>
              <a:rPr lang="en-US" sz="2000" dirty="0" err="1">
                <a:solidFill>
                  <a:schemeClr val="bg1"/>
                </a:solidFill>
                <a:latin typeface="Times New Roman" panose="02020603050405020304" pitchFamily="18" charset="0"/>
                <a:cs typeface="Times New Roman" panose="02020603050405020304" pitchFamily="18" charset="0"/>
              </a:rPr>
              <a:t>cat_name</a:t>
            </a:r>
            <a:r>
              <a:rPr lang="en-US" sz="2000" dirty="0">
                <a:latin typeface="Times New Roman" panose="02020603050405020304" pitchFamily="18" charset="0"/>
                <a:cs typeface="Times New Roman" panose="02020603050405020304" pitchFamily="18" charset="0"/>
              </a:rPr>
              <a:t>.</a:t>
            </a:r>
          </a:p>
        </p:txBody>
      </p:sp>
      <p:sp>
        <p:nvSpPr>
          <p:cNvPr id="35" name="TextBox 34">
            <a:extLst>
              <a:ext uri="{FF2B5EF4-FFF2-40B4-BE49-F238E27FC236}">
                <a16:creationId xmlns:a16="http://schemas.microsoft.com/office/drawing/2014/main" id="{B8730F3B-8624-2762-7C5B-BA5E482BD4DE}"/>
              </a:ext>
            </a:extLst>
          </p:cNvPr>
          <p:cNvSpPr txBox="1"/>
          <p:nvPr/>
        </p:nvSpPr>
        <p:spPr>
          <a:xfrm>
            <a:off x="6302144" y="3612591"/>
            <a:ext cx="2823132" cy="2554545"/>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Purpose: </a:t>
            </a:r>
            <a:r>
              <a:rPr lang="en-US" sz="2000" dirty="0">
                <a:solidFill>
                  <a:schemeClr val="bg1"/>
                </a:solidFill>
                <a:latin typeface="Times New Roman" panose="02020603050405020304" pitchFamily="18" charset="0"/>
                <a:cs typeface="Times New Roman" panose="02020603050405020304" pitchFamily="18" charset="0"/>
              </a:rPr>
              <a:t>Stores information about the employees.</a:t>
            </a:r>
          </a:p>
          <a:p>
            <a:r>
              <a:rPr lang="en-US" sz="2000" b="1" dirty="0">
                <a:solidFill>
                  <a:schemeClr val="bg1"/>
                </a:solidFill>
                <a:latin typeface="Times New Roman" panose="02020603050405020304" pitchFamily="18" charset="0"/>
                <a:cs typeface="Times New Roman" panose="02020603050405020304" pitchFamily="18" charset="0"/>
              </a:rPr>
              <a:t>Key</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Columns: </a:t>
            </a:r>
            <a:r>
              <a:rPr lang="en-US" sz="2000" dirty="0" err="1">
                <a:solidFill>
                  <a:schemeClr val="bg1"/>
                </a:solidFill>
                <a:latin typeface="Times New Roman" panose="02020603050405020304" pitchFamily="18" charset="0"/>
                <a:cs typeface="Times New Roman" panose="02020603050405020304" pitchFamily="18" charset="0"/>
              </a:rPr>
              <a:t>emp_id</a:t>
            </a:r>
            <a:r>
              <a:rPr lang="en-US" sz="2000" dirty="0">
                <a:solidFill>
                  <a:schemeClr val="bg1"/>
                </a:solidFill>
                <a:latin typeface="Times New Roman" panose="02020603050405020304" pitchFamily="18" charset="0"/>
                <a:cs typeface="Times New Roman" panose="02020603050405020304" pitchFamily="18" charset="0"/>
              </a:rPr>
              <a:t> (unique ID for each employee), </a:t>
            </a:r>
            <a:r>
              <a:rPr lang="en-US" sz="2000" dirty="0" err="1">
                <a:solidFill>
                  <a:schemeClr val="bg1"/>
                </a:solidFill>
                <a:latin typeface="Times New Roman" panose="02020603050405020304" pitchFamily="18" charset="0"/>
                <a:cs typeface="Times New Roman" panose="02020603050405020304" pitchFamily="18" charset="0"/>
              </a:rPr>
              <a:t>emp_name</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hire_date</a:t>
            </a:r>
            <a:r>
              <a:rPr lang="en-US" sz="2000" dirty="0">
                <a:solidFill>
                  <a:schemeClr val="bg1"/>
                </a:solidFill>
                <a:latin typeface="Times New Roman" panose="02020603050405020304" pitchFamily="18" charset="0"/>
                <a:cs typeface="Times New Roman" panose="02020603050405020304" pitchFamily="18" charset="0"/>
              </a:rPr>
              <a:t>.</a:t>
            </a:r>
          </a:p>
        </p:txBody>
      </p:sp>
      <p:sp>
        <p:nvSpPr>
          <p:cNvPr id="36" name="TextBox 35">
            <a:extLst>
              <a:ext uri="{FF2B5EF4-FFF2-40B4-BE49-F238E27FC236}">
                <a16:creationId xmlns:a16="http://schemas.microsoft.com/office/drawing/2014/main" id="{864EB81D-4345-438F-6EAB-B816C15AC698}"/>
              </a:ext>
            </a:extLst>
          </p:cNvPr>
          <p:cNvSpPr txBox="1"/>
          <p:nvPr/>
        </p:nvSpPr>
        <p:spPr>
          <a:xfrm>
            <a:off x="9327740" y="3562976"/>
            <a:ext cx="2823132" cy="2554545"/>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Purpose: </a:t>
            </a:r>
            <a:r>
              <a:rPr lang="en-US" sz="2000" dirty="0">
                <a:solidFill>
                  <a:schemeClr val="bg1"/>
                </a:solidFill>
                <a:latin typeface="Times New Roman" panose="02020603050405020304" pitchFamily="18" charset="0"/>
                <a:cs typeface="Times New Roman" panose="02020603050405020304" pitchFamily="18" charset="0"/>
              </a:rPr>
              <a:t>Stores information about each customer.</a:t>
            </a:r>
          </a:p>
          <a:p>
            <a:r>
              <a:rPr lang="en-US" sz="2000" b="1" dirty="0">
                <a:solidFill>
                  <a:schemeClr val="bg1"/>
                </a:solidFill>
                <a:latin typeface="Times New Roman" panose="02020603050405020304" pitchFamily="18" charset="0"/>
                <a:cs typeface="Times New Roman" panose="02020603050405020304" pitchFamily="18" charset="0"/>
              </a:rPr>
              <a:t>Key</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Columns</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cust_id</a:t>
            </a:r>
            <a:r>
              <a:rPr lang="en-US" sz="2000" dirty="0">
                <a:solidFill>
                  <a:schemeClr val="bg1"/>
                </a:solidFill>
                <a:latin typeface="Times New Roman" panose="02020603050405020304" pitchFamily="18" charset="0"/>
                <a:cs typeface="Times New Roman" panose="02020603050405020304" pitchFamily="18" charset="0"/>
              </a:rPr>
              <a:t> (unique ID for each customer), </a:t>
            </a:r>
            <a:r>
              <a:rPr lang="en-US" sz="2000" dirty="0" err="1">
                <a:solidFill>
                  <a:schemeClr val="bg1"/>
                </a:solidFill>
                <a:latin typeface="Times New Roman" panose="02020603050405020304" pitchFamily="18" charset="0"/>
                <a:cs typeface="Times New Roman" panose="02020603050405020304" pitchFamily="18" charset="0"/>
              </a:rPr>
              <a:t>cust_name</a:t>
            </a:r>
            <a:r>
              <a:rPr lang="en-US" sz="2000" dirty="0">
                <a:solidFill>
                  <a:schemeClr val="bg1"/>
                </a:solidFill>
                <a:latin typeface="Times New Roman" panose="02020603050405020304" pitchFamily="18" charset="0"/>
                <a:cs typeface="Times New Roman" panose="02020603050405020304" pitchFamily="18" charset="0"/>
              </a:rPr>
              <a:t>, address.</a:t>
            </a:r>
          </a:p>
        </p:txBody>
      </p:sp>
    </p:spTree>
    <p:extLst>
      <p:ext uri="{BB962C8B-B14F-4D97-AF65-F5344CB8AC3E}">
        <p14:creationId xmlns:p14="http://schemas.microsoft.com/office/powerpoint/2010/main" val="3412517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0DB70-0003-1F82-E9C2-453CB10754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7BB477A-62F6-2C38-02C6-37A2236D2CC8}"/>
              </a:ext>
            </a:extLst>
          </p:cNvPr>
          <p:cNvSpPr/>
          <p:nvPr/>
        </p:nvSpPr>
        <p:spPr>
          <a:xfrm>
            <a:off x="-1" y="-1"/>
            <a:ext cx="3964214" cy="685799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32CA5946-CC22-622D-2B41-5B3AFCEA0044}"/>
              </a:ext>
            </a:extLst>
          </p:cNvPr>
          <p:cNvSpPr/>
          <p:nvPr/>
        </p:nvSpPr>
        <p:spPr>
          <a:xfrm>
            <a:off x="3946977" y="-79383"/>
            <a:ext cx="4180113" cy="6872066"/>
          </a:xfrm>
          <a:prstGeom prst="rect">
            <a:avLst/>
          </a:prstGeom>
          <a:solidFill>
            <a:srgbClr val="002060">
              <a:alpha val="8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4" name="Rectangle 3">
            <a:extLst>
              <a:ext uri="{FF2B5EF4-FFF2-40B4-BE49-F238E27FC236}">
                <a16:creationId xmlns:a16="http://schemas.microsoft.com/office/drawing/2014/main" id="{B6E8DB48-494D-16CF-ACB6-FF3EC08E98AD}"/>
              </a:ext>
            </a:extLst>
          </p:cNvPr>
          <p:cNvSpPr/>
          <p:nvPr/>
        </p:nvSpPr>
        <p:spPr>
          <a:xfrm>
            <a:off x="8109853" y="1"/>
            <a:ext cx="4082144" cy="6857999"/>
          </a:xfrm>
          <a:prstGeom prst="rect">
            <a:avLst/>
          </a:prstGeom>
          <a:solidFill>
            <a:srgbClr val="002060">
              <a:alpha val="6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31B9E981-4AFB-AA64-A5C3-3D69DBED9315}"/>
              </a:ext>
            </a:extLst>
          </p:cNvPr>
          <p:cNvSpPr txBox="1"/>
          <p:nvPr/>
        </p:nvSpPr>
        <p:spPr>
          <a:xfrm>
            <a:off x="1043018" y="191705"/>
            <a:ext cx="2028468" cy="523220"/>
          </a:xfrm>
          <a:prstGeom prst="rect">
            <a:avLst/>
          </a:prstGeom>
          <a:noFill/>
          <a:ln>
            <a:noFill/>
          </a:ln>
        </p:spPr>
        <p:txBody>
          <a:bodyPr wrap="square" rtlCol="0">
            <a:spAutoFit/>
          </a:bodyPr>
          <a:lstStyle/>
          <a:p>
            <a:pPr algn="ctr"/>
            <a:r>
              <a:rPr lang="en-US" sz="2800" b="1" dirty="0">
                <a:solidFill>
                  <a:schemeClr val="bg1"/>
                </a:solidFill>
              </a:rPr>
              <a:t>Products </a:t>
            </a:r>
            <a:endParaRPr lang="en-IN" sz="2800" b="1" dirty="0">
              <a:solidFill>
                <a:schemeClr val="bg1"/>
              </a:solidFill>
            </a:endParaRPr>
          </a:p>
        </p:txBody>
      </p:sp>
      <p:sp>
        <p:nvSpPr>
          <p:cNvPr id="11" name="TextBox 10">
            <a:extLst>
              <a:ext uri="{FF2B5EF4-FFF2-40B4-BE49-F238E27FC236}">
                <a16:creationId xmlns:a16="http://schemas.microsoft.com/office/drawing/2014/main" id="{602BE99D-8160-31F3-1284-BCD099329C3E}"/>
              </a:ext>
            </a:extLst>
          </p:cNvPr>
          <p:cNvSpPr txBox="1"/>
          <p:nvPr/>
        </p:nvSpPr>
        <p:spPr>
          <a:xfrm>
            <a:off x="4944855" y="191705"/>
            <a:ext cx="2168035" cy="523220"/>
          </a:xfrm>
          <a:prstGeom prst="rect">
            <a:avLst/>
          </a:prstGeom>
          <a:noFill/>
          <a:ln>
            <a:noFill/>
          </a:ln>
        </p:spPr>
        <p:txBody>
          <a:bodyPr wrap="square" rtlCol="0">
            <a:spAutoFit/>
          </a:bodyPr>
          <a:lstStyle/>
          <a:p>
            <a:pPr algn="ctr"/>
            <a:r>
              <a:rPr lang="en-US" sz="2800" b="1" dirty="0">
                <a:solidFill>
                  <a:schemeClr val="bg1"/>
                </a:solidFill>
              </a:rPr>
              <a:t>Orders</a:t>
            </a:r>
            <a:endParaRPr lang="en-IN" sz="2800" b="1" dirty="0">
              <a:solidFill>
                <a:schemeClr val="bg1"/>
              </a:solidFill>
            </a:endParaRPr>
          </a:p>
        </p:txBody>
      </p:sp>
      <p:sp>
        <p:nvSpPr>
          <p:cNvPr id="13" name="TextBox 12">
            <a:extLst>
              <a:ext uri="{FF2B5EF4-FFF2-40B4-BE49-F238E27FC236}">
                <a16:creationId xmlns:a16="http://schemas.microsoft.com/office/drawing/2014/main" id="{5E36BCAF-1B1B-B546-5FB3-394891B14D08}"/>
              </a:ext>
            </a:extLst>
          </p:cNvPr>
          <p:cNvSpPr txBox="1"/>
          <p:nvPr/>
        </p:nvSpPr>
        <p:spPr>
          <a:xfrm>
            <a:off x="8968111" y="191705"/>
            <a:ext cx="2582637" cy="523220"/>
          </a:xfrm>
          <a:prstGeom prst="rect">
            <a:avLst/>
          </a:prstGeom>
          <a:noFill/>
          <a:ln>
            <a:noFill/>
          </a:ln>
        </p:spPr>
        <p:txBody>
          <a:bodyPr wrap="square" rtlCol="0">
            <a:spAutoFit/>
          </a:bodyPr>
          <a:lstStyle/>
          <a:p>
            <a:pPr algn="ctr"/>
            <a:r>
              <a:rPr lang="en-US" sz="2800" b="1" dirty="0">
                <a:solidFill>
                  <a:schemeClr val="bg1"/>
                </a:solidFill>
              </a:rPr>
              <a:t>Order Details </a:t>
            </a:r>
            <a:endParaRPr lang="en-IN" sz="2800" b="1" dirty="0">
              <a:solidFill>
                <a:schemeClr val="bg1"/>
              </a:solidFill>
            </a:endParaRPr>
          </a:p>
        </p:txBody>
      </p:sp>
      <p:pic>
        <p:nvPicPr>
          <p:cNvPr id="8" name="Picture 7" descr="A screenshot of a computer&#10;&#10;AI-generated content may be incorrect.">
            <a:extLst>
              <a:ext uri="{FF2B5EF4-FFF2-40B4-BE49-F238E27FC236}">
                <a16:creationId xmlns:a16="http://schemas.microsoft.com/office/drawing/2014/main" id="{9EB54193-9627-E1DA-15A6-61E734F5CF18}"/>
              </a:ext>
            </a:extLst>
          </p:cNvPr>
          <p:cNvPicPr>
            <a:picLocks noChangeAspect="1"/>
          </p:cNvPicPr>
          <p:nvPr/>
        </p:nvPicPr>
        <p:blipFill>
          <a:blip r:embed="rId2"/>
          <a:stretch>
            <a:fillRect/>
          </a:stretch>
        </p:blipFill>
        <p:spPr>
          <a:xfrm>
            <a:off x="34470" y="906631"/>
            <a:ext cx="3860800" cy="1962424"/>
          </a:xfrm>
          <a:prstGeom prst="rect">
            <a:avLst/>
          </a:prstGeom>
        </p:spPr>
      </p:pic>
      <p:pic>
        <p:nvPicPr>
          <p:cNvPr id="16" name="Picture 15" descr="A screenshot of a data&#10;&#10;AI-generated content may be incorrect.">
            <a:extLst>
              <a:ext uri="{FF2B5EF4-FFF2-40B4-BE49-F238E27FC236}">
                <a16:creationId xmlns:a16="http://schemas.microsoft.com/office/drawing/2014/main" id="{AB8AC5FD-19D6-4E3B-BCA8-C8E98B6193B6}"/>
              </a:ext>
            </a:extLst>
          </p:cNvPr>
          <p:cNvPicPr>
            <a:picLocks noChangeAspect="1"/>
          </p:cNvPicPr>
          <p:nvPr/>
        </p:nvPicPr>
        <p:blipFill>
          <a:blip r:embed="rId3"/>
          <a:stretch>
            <a:fillRect/>
          </a:stretch>
        </p:blipFill>
        <p:spPr>
          <a:xfrm>
            <a:off x="4082148" y="920696"/>
            <a:ext cx="3893453" cy="1962425"/>
          </a:xfrm>
          <a:prstGeom prst="rect">
            <a:avLst/>
          </a:prstGeom>
        </p:spPr>
      </p:pic>
      <p:pic>
        <p:nvPicPr>
          <p:cNvPr id="19" name="Picture 18" descr="A screenshot of a table&#10;&#10;AI-generated content may be incorrect.">
            <a:extLst>
              <a:ext uri="{FF2B5EF4-FFF2-40B4-BE49-F238E27FC236}">
                <a16:creationId xmlns:a16="http://schemas.microsoft.com/office/drawing/2014/main" id="{9CCA0344-5F4D-0400-CEC0-F53C64A3731D}"/>
              </a:ext>
            </a:extLst>
          </p:cNvPr>
          <p:cNvPicPr>
            <a:picLocks noChangeAspect="1"/>
          </p:cNvPicPr>
          <p:nvPr/>
        </p:nvPicPr>
        <p:blipFill>
          <a:blip r:embed="rId4"/>
          <a:stretch>
            <a:fillRect/>
          </a:stretch>
        </p:blipFill>
        <p:spPr>
          <a:xfrm>
            <a:off x="8144327" y="920696"/>
            <a:ext cx="4082145" cy="2010056"/>
          </a:xfrm>
          <a:prstGeom prst="rect">
            <a:avLst/>
          </a:prstGeom>
        </p:spPr>
      </p:pic>
      <p:sp>
        <p:nvSpPr>
          <p:cNvPr id="20" name="TextBox 19">
            <a:extLst>
              <a:ext uri="{FF2B5EF4-FFF2-40B4-BE49-F238E27FC236}">
                <a16:creationId xmlns:a16="http://schemas.microsoft.com/office/drawing/2014/main" id="{705E8B98-30CF-C484-D692-91C385861CAB}"/>
              </a:ext>
            </a:extLst>
          </p:cNvPr>
          <p:cNvSpPr txBox="1"/>
          <p:nvPr/>
        </p:nvSpPr>
        <p:spPr>
          <a:xfrm>
            <a:off x="130627" y="3110173"/>
            <a:ext cx="3668486" cy="2462213"/>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Purpose</a:t>
            </a:r>
            <a:r>
              <a:rPr lang="en-US" sz="2000" dirty="0">
                <a:solidFill>
                  <a:schemeClr val="bg1"/>
                </a:solidFill>
                <a:latin typeface="Times New Roman" panose="02020603050405020304" pitchFamily="18" charset="0"/>
                <a:cs typeface="Times New Roman" panose="02020603050405020304" pitchFamily="18" charset="0"/>
              </a:rPr>
              <a:t>: Contains details for every product sold.</a:t>
            </a:r>
          </a:p>
          <a:p>
            <a:r>
              <a:rPr lang="en-US" sz="2000" b="1" dirty="0">
                <a:solidFill>
                  <a:schemeClr val="bg1"/>
                </a:solidFill>
                <a:latin typeface="Times New Roman" panose="02020603050405020304" pitchFamily="18" charset="0"/>
                <a:cs typeface="Times New Roman" panose="02020603050405020304" pitchFamily="18" charset="0"/>
              </a:rPr>
              <a:t>Key</a:t>
            </a:r>
          </a:p>
          <a:p>
            <a:r>
              <a:rPr lang="en-US" sz="2000" b="1" dirty="0">
                <a:solidFill>
                  <a:schemeClr val="bg1"/>
                </a:solidFill>
                <a:latin typeface="Times New Roman" panose="02020603050405020304" pitchFamily="18" charset="0"/>
                <a:cs typeface="Times New Roman" panose="02020603050405020304" pitchFamily="18" charset="0"/>
              </a:rPr>
              <a:t>Columns</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prod_id</a:t>
            </a:r>
            <a:r>
              <a:rPr lang="en-US" sz="2000" dirty="0">
                <a:solidFill>
                  <a:schemeClr val="bg1"/>
                </a:solidFill>
                <a:latin typeface="Times New Roman" panose="02020603050405020304" pitchFamily="18" charset="0"/>
                <a:cs typeface="Times New Roman" panose="02020603050405020304" pitchFamily="18" charset="0"/>
              </a:rPr>
              <a:t> (unique ID for each product), </a:t>
            </a:r>
            <a:r>
              <a:rPr lang="en-US" sz="2000" dirty="0" err="1">
                <a:solidFill>
                  <a:schemeClr val="bg1"/>
                </a:solidFill>
                <a:latin typeface="Times New Roman" panose="02020603050405020304" pitchFamily="18" charset="0"/>
                <a:cs typeface="Times New Roman" panose="02020603050405020304" pitchFamily="18" charset="0"/>
              </a:rPr>
              <a:t>prod_name</a:t>
            </a:r>
            <a:r>
              <a:rPr lang="en-US" sz="2000" dirty="0">
                <a:solidFill>
                  <a:schemeClr val="bg1"/>
                </a:solidFill>
                <a:latin typeface="Times New Roman" panose="02020603050405020304" pitchFamily="18" charset="0"/>
                <a:cs typeface="Times New Roman" panose="02020603050405020304" pitchFamily="18" charset="0"/>
              </a:rPr>
              <a:t>, price. It also links to its </a:t>
            </a:r>
            <a:r>
              <a:rPr lang="en-US" sz="2000" dirty="0" err="1">
                <a:solidFill>
                  <a:schemeClr val="bg1"/>
                </a:solidFill>
                <a:latin typeface="Times New Roman" panose="02020603050405020304" pitchFamily="18" charset="0"/>
                <a:cs typeface="Times New Roman" panose="02020603050405020304" pitchFamily="18" charset="0"/>
              </a:rPr>
              <a:t>cat_id</a:t>
            </a:r>
            <a:r>
              <a:rPr lang="en-US" sz="2000" dirty="0">
                <a:solidFill>
                  <a:schemeClr val="bg1"/>
                </a:solidFill>
                <a:latin typeface="Times New Roman" panose="02020603050405020304" pitchFamily="18" charset="0"/>
                <a:cs typeface="Times New Roman" panose="02020603050405020304" pitchFamily="18" charset="0"/>
              </a:rPr>
              <a:t> and </a:t>
            </a:r>
            <a:r>
              <a:rPr lang="en-US" sz="2000" dirty="0" err="1">
                <a:solidFill>
                  <a:schemeClr val="bg1"/>
                </a:solidFill>
                <a:latin typeface="Times New Roman" panose="02020603050405020304" pitchFamily="18" charset="0"/>
                <a:cs typeface="Times New Roman" panose="02020603050405020304" pitchFamily="18" charset="0"/>
              </a:rPr>
              <a:t>sup_id</a:t>
            </a:r>
            <a:r>
              <a:rPr lang="en-US" sz="2000" dirty="0">
                <a:solidFill>
                  <a:schemeClr val="bg1"/>
                </a:solidFill>
                <a:latin typeface="Times New Roman" panose="02020603050405020304" pitchFamily="18" charset="0"/>
                <a:cs typeface="Times New Roman" panose="02020603050405020304" pitchFamily="18" charset="0"/>
              </a:rPr>
              <a:t>.</a:t>
            </a:r>
          </a:p>
          <a:p>
            <a:endParaRPr lang="en-IN" dirty="0"/>
          </a:p>
        </p:txBody>
      </p:sp>
      <p:sp>
        <p:nvSpPr>
          <p:cNvPr id="21" name="TextBox 20">
            <a:extLst>
              <a:ext uri="{FF2B5EF4-FFF2-40B4-BE49-F238E27FC236}">
                <a16:creationId xmlns:a16="http://schemas.microsoft.com/office/drawing/2014/main" id="{080C97F9-EEA0-5A10-8256-33A93FDED997}"/>
              </a:ext>
            </a:extLst>
          </p:cNvPr>
          <p:cNvSpPr txBox="1"/>
          <p:nvPr/>
        </p:nvSpPr>
        <p:spPr>
          <a:xfrm>
            <a:off x="4202790" y="3051893"/>
            <a:ext cx="3668486" cy="3385542"/>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Purpose: </a:t>
            </a:r>
            <a:r>
              <a:rPr lang="en-US" sz="2000" dirty="0">
                <a:solidFill>
                  <a:schemeClr val="bg1"/>
                </a:solidFill>
                <a:latin typeface="Times New Roman" panose="02020603050405020304" pitchFamily="18" charset="0"/>
                <a:cs typeface="Times New Roman" panose="02020603050405020304" pitchFamily="18" charset="0"/>
              </a:rPr>
              <a:t>This is a core table that records every order placed. It acts as a link between customers and employees.</a:t>
            </a:r>
          </a:p>
          <a:p>
            <a:r>
              <a:rPr lang="en-US" sz="2000" b="1" dirty="0">
                <a:solidFill>
                  <a:schemeClr val="bg1"/>
                </a:solidFill>
                <a:latin typeface="Times New Roman" panose="02020603050405020304" pitchFamily="18" charset="0"/>
                <a:cs typeface="Times New Roman" panose="02020603050405020304" pitchFamily="18" charset="0"/>
              </a:rPr>
              <a:t>Key Columns: </a:t>
            </a:r>
            <a:r>
              <a:rPr lang="en-US" sz="2000" dirty="0" err="1">
                <a:solidFill>
                  <a:schemeClr val="bg1"/>
                </a:solidFill>
                <a:latin typeface="Times New Roman" panose="02020603050405020304" pitchFamily="18" charset="0"/>
                <a:cs typeface="Times New Roman" panose="02020603050405020304" pitchFamily="18" charset="0"/>
              </a:rPr>
              <a:t>ord_id</a:t>
            </a:r>
            <a:r>
              <a:rPr lang="en-US" sz="2000" dirty="0">
                <a:solidFill>
                  <a:schemeClr val="bg1"/>
                </a:solidFill>
                <a:latin typeface="Times New Roman" panose="02020603050405020304" pitchFamily="18" charset="0"/>
                <a:cs typeface="Times New Roman" panose="02020603050405020304" pitchFamily="18" charset="0"/>
              </a:rPr>
              <a:t> (unique ID for the order), </a:t>
            </a:r>
            <a:r>
              <a:rPr lang="en-US" sz="2000" dirty="0" err="1">
                <a:solidFill>
                  <a:schemeClr val="bg1"/>
                </a:solidFill>
                <a:latin typeface="Times New Roman" panose="02020603050405020304" pitchFamily="18" charset="0"/>
                <a:cs typeface="Times New Roman" panose="02020603050405020304" pitchFamily="18" charset="0"/>
              </a:rPr>
              <a:t>cust_id</a:t>
            </a:r>
            <a:r>
              <a:rPr lang="en-US" sz="2000" dirty="0">
                <a:solidFill>
                  <a:schemeClr val="bg1"/>
                </a:solidFill>
                <a:latin typeface="Times New Roman" panose="02020603050405020304" pitchFamily="18" charset="0"/>
                <a:cs typeface="Times New Roman" panose="02020603050405020304" pitchFamily="18" charset="0"/>
              </a:rPr>
              <a:t> (to know which customer ordered), </a:t>
            </a:r>
            <a:r>
              <a:rPr lang="en-US" sz="2000" dirty="0" err="1">
                <a:solidFill>
                  <a:schemeClr val="bg1"/>
                </a:solidFill>
                <a:latin typeface="Times New Roman" panose="02020603050405020304" pitchFamily="18" charset="0"/>
                <a:cs typeface="Times New Roman" panose="02020603050405020304" pitchFamily="18" charset="0"/>
              </a:rPr>
              <a:t>emp_id</a:t>
            </a:r>
            <a:r>
              <a:rPr lang="en-US" sz="2000" dirty="0">
                <a:solidFill>
                  <a:schemeClr val="bg1"/>
                </a:solidFill>
                <a:latin typeface="Times New Roman" panose="02020603050405020304" pitchFamily="18" charset="0"/>
                <a:cs typeface="Times New Roman" panose="02020603050405020304" pitchFamily="18" charset="0"/>
              </a:rPr>
              <a:t> (which employee handled it), and </a:t>
            </a:r>
            <a:r>
              <a:rPr lang="en-US" sz="2000" dirty="0" err="1">
                <a:solidFill>
                  <a:schemeClr val="bg1"/>
                </a:solidFill>
                <a:latin typeface="Times New Roman" panose="02020603050405020304" pitchFamily="18" charset="0"/>
                <a:cs typeface="Times New Roman" panose="02020603050405020304" pitchFamily="18" charset="0"/>
              </a:rPr>
              <a:t>order_date</a:t>
            </a:r>
            <a:r>
              <a:rPr lang="en-US" sz="2000" dirty="0">
                <a:solidFill>
                  <a:schemeClr val="bg1"/>
                </a:solidFill>
                <a:latin typeface="Times New Roman" panose="02020603050405020304" pitchFamily="18" charset="0"/>
                <a:cs typeface="Times New Roman" panose="02020603050405020304" pitchFamily="18" charset="0"/>
              </a:rPr>
              <a:t>.</a:t>
            </a:r>
          </a:p>
          <a:p>
            <a:endParaRPr lang="en-IN" dirty="0"/>
          </a:p>
        </p:txBody>
      </p:sp>
      <p:sp>
        <p:nvSpPr>
          <p:cNvPr id="22" name="TextBox 21">
            <a:extLst>
              <a:ext uri="{FF2B5EF4-FFF2-40B4-BE49-F238E27FC236}">
                <a16:creationId xmlns:a16="http://schemas.microsoft.com/office/drawing/2014/main" id="{762AB2E0-1991-44FC-CC83-42FB453A3B3C}"/>
              </a:ext>
            </a:extLst>
          </p:cNvPr>
          <p:cNvSpPr txBox="1"/>
          <p:nvPr/>
        </p:nvSpPr>
        <p:spPr>
          <a:xfrm>
            <a:off x="8351156" y="3051893"/>
            <a:ext cx="3668486" cy="2862322"/>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Purpose</a:t>
            </a:r>
            <a:r>
              <a:rPr lang="en-US" sz="2000" dirty="0">
                <a:solidFill>
                  <a:schemeClr val="bg1"/>
                </a:solidFill>
                <a:latin typeface="Times New Roman" panose="02020603050405020304" pitchFamily="18" charset="0"/>
                <a:cs typeface="Times New Roman" panose="02020603050405020304" pitchFamily="18" charset="0"/>
              </a:rPr>
              <a:t>: This table provides a detailed breakdown of each order, showing exactly which products and quantities were included.</a:t>
            </a:r>
          </a:p>
          <a:p>
            <a:r>
              <a:rPr lang="en-US" sz="2000" b="1" dirty="0">
                <a:solidFill>
                  <a:schemeClr val="bg1"/>
                </a:solidFill>
                <a:latin typeface="Times New Roman" panose="02020603050405020304" pitchFamily="18" charset="0"/>
                <a:cs typeface="Times New Roman" panose="02020603050405020304" pitchFamily="18" charset="0"/>
              </a:rPr>
              <a:t>Key Columns</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ord_detID</a:t>
            </a:r>
            <a:r>
              <a:rPr lang="en-US" sz="2000" dirty="0">
                <a:solidFill>
                  <a:schemeClr val="bg1"/>
                </a:solidFill>
                <a:latin typeface="Times New Roman" panose="02020603050405020304" pitchFamily="18" charset="0"/>
                <a:cs typeface="Times New Roman" panose="02020603050405020304" pitchFamily="18" charset="0"/>
              </a:rPr>
              <a:t> (unique ID for each line item), </a:t>
            </a:r>
            <a:r>
              <a:rPr lang="en-US" sz="2000" dirty="0" err="1">
                <a:solidFill>
                  <a:schemeClr val="bg1"/>
                </a:solidFill>
                <a:latin typeface="Times New Roman" panose="02020603050405020304" pitchFamily="18" charset="0"/>
                <a:cs typeface="Times New Roman" panose="02020603050405020304" pitchFamily="18" charset="0"/>
              </a:rPr>
              <a:t>ord_id</a:t>
            </a:r>
            <a:r>
              <a:rPr lang="en-US" sz="2000" dirty="0">
                <a:solidFill>
                  <a:schemeClr val="bg1"/>
                </a:solidFill>
                <a:latin typeface="Times New Roman" panose="02020603050405020304" pitchFamily="18" charset="0"/>
                <a:cs typeface="Times New Roman" panose="02020603050405020304" pitchFamily="18" charset="0"/>
              </a:rPr>
              <a:t> (to link to a specific order), </a:t>
            </a:r>
            <a:r>
              <a:rPr lang="en-US" sz="2000" dirty="0" err="1">
                <a:solidFill>
                  <a:schemeClr val="bg1"/>
                </a:solidFill>
                <a:latin typeface="Times New Roman" panose="02020603050405020304" pitchFamily="18" charset="0"/>
                <a:cs typeface="Times New Roman" panose="02020603050405020304" pitchFamily="18" charset="0"/>
              </a:rPr>
              <a:t>prod_id</a:t>
            </a:r>
            <a:r>
              <a:rPr lang="en-US" sz="2000" dirty="0">
                <a:solidFill>
                  <a:schemeClr val="bg1"/>
                </a:solidFill>
                <a:latin typeface="Times New Roman" panose="02020603050405020304" pitchFamily="18" charset="0"/>
                <a:cs typeface="Times New Roman" panose="02020603050405020304" pitchFamily="18" charset="0"/>
              </a:rPr>
              <a:t> (to link to a specific product)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455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1104A46-FC66-76F8-0230-402188CEBE46}"/>
              </a:ext>
            </a:extLst>
          </p:cNvPr>
          <p:cNvSpPr txBox="1"/>
          <p:nvPr/>
        </p:nvSpPr>
        <p:spPr>
          <a:xfrm>
            <a:off x="414867" y="44179"/>
            <a:ext cx="3259667" cy="707886"/>
          </a:xfrm>
          <a:prstGeom prst="rect">
            <a:avLst/>
          </a:prstGeom>
          <a:solidFill>
            <a:schemeClr val="accent2">
              <a:lumMod val="50000"/>
            </a:schemeClr>
          </a:solidFill>
        </p:spPr>
        <p:txBody>
          <a:bodyPr wrap="square" rtlCol="0">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K</a:t>
            </a:r>
            <a:r>
              <a:rPr lang="en-IN" sz="4000" b="1" dirty="0" err="1">
                <a:solidFill>
                  <a:srgbClr val="FF0000"/>
                </a:solidFill>
                <a:latin typeface="Times New Roman" panose="02020603050405020304" pitchFamily="18" charset="0"/>
                <a:cs typeface="Times New Roman" panose="02020603050405020304" pitchFamily="18" charset="0"/>
              </a:rPr>
              <a:t>ey</a:t>
            </a:r>
            <a:r>
              <a:rPr lang="en-IN" sz="4000" b="1" dirty="0">
                <a:solidFill>
                  <a:srgbClr val="FF0000"/>
                </a:solidFill>
                <a:latin typeface="Times New Roman" panose="02020603050405020304" pitchFamily="18" charset="0"/>
                <a:cs typeface="Times New Roman" panose="02020603050405020304" pitchFamily="18" charset="0"/>
              </a:rPr>
              <a:t> Analysis</a:t>
            </a:r>
          </a:p>
        </p:txBody>
      </p:sp>
      <p:pic>
        <p:nvPicPr>
          <p:cNvPr id="12" name="Picture 11">
            <a:extLst>
              <a:ext uri="{FF2B5EF4-FFF2-40B4-BE49-F238E27FC236}">
                <a16:creationId xmlns:a16="http://schemas.microsoft.com/office/drawing/2014/main" id="{43A4BB2C-E900-A317-90FD-6939CBB0169A}"/>
              </a:ext>
            </a:extLst>
          </p:cNvPr>
          <p:cNvPicPr>
            <a:picLocks noChangeAspect="1"/>
          </p:cNvPicPr>
          <p:nvPr/>
        </p:nvPicPr>
        <p:blipFill>
          <a:blip r:embed="rId2"/>
          <a:stretch>
            <a:fillRect/>
          </a:stretch>
        </p:blipFill>
        <p:spPr>
          <a:xfrm>
            <a:off x="4396646" y="4345720"/>
            <a:ext cx="3398701" cy="2360674"/>
          </a:xfrm>
          <a:prstGeom prst="rect">
            <a:avLst/>
          </a:prstGeom>
        </p:spPr>
      </p:pic>
      <p:pic>
        <p:nvPicPr>
          <p:cNvPr id="14" name="Picture 13" descr="A screen shot of a computer code&#10;&#10;AI-generated content may be incorrect.">
            <a:extLst>
              <a:ext uri="{FF2B5EF4-FFF2-40B4-BE49-F238E27FC236}">
                <a16:creationId xmlns:a16="http://schemas.microsoft.com/office/drawing/2014/main" id="{4DAFDBCA-2D0D-0D95-7199-66E24CA3CEBD}"/>
              </a:ext>
            </a:extLst>
          </p:cNvPr>
          <p:cNvPicPr>
            <a:picLocks noChangeAspect="1"/>
          </p:cNvPicPr>
          <p:nvPr/>
        </p:nvPicPr>
        <p:blipFill>
          <a:blip r:embed="rId3"/>
          <a:stretch>
            <a:fillRect/>
          </a:stretch>
        </p:blipFill>
        <p:spPr>
          <a:xfrm>
            <a:off x="2513259" y="1589184"/>
            <a:ext cx="7165473" cy="2548371"/>
          </a:xfrm>
          <a:prstGeom prst="rect">
            <a:avLst/>
          </a:prstGeom>
        </p:spPr>
      </p:pic>
      <p:sp>
        <p:nvSpPr>
          <p:cNvPr id="15" name="TextBox 14">
            <a:extLst>
              <a:ext uri="{FF2B5EF4-FFF2-40B4-BE49-F238E27FC236}">
                <a16:creationId xmlns:a16="http://schemas.microsoft.com/office/drawing/2014/main" id="{B22880F0-0F6A-C47B-2E44-860B73DFD317}"/>
              </a:ext>
            </a:extLst>
          </p:cNvPr>
          <p:cNvSpPr txBox="1"/>
          <p:nvPr/>
        </p:nvSpPr>
        <p:spPr>
          <a:xfrm>
            <a:off x="968828" y="900326"/>
            <a:ext cx="10095457"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The customers who placed the highest number of orders</a:t>
            </a:r>
            <a:endParaRPr lang="en-IN" sz="3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164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F1B4BA-8984-F9CC-C14E-76455A1CBD24}"/>
              </a:ext>
            </a:extLst>
          </p:cNvPr>
          <p:cNvSpPr txBox="1"/>
          <p:nvPr/>
        </p:nvSpPr>
        <p:spPr>
          <a:xfrm>
            <a:off x="1186544" y="118349"/>
            <a:ext cx="9568542"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The total and average purchase value per customer</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4" name="Picture 3" descr="A screen shot of a computer&#10;&#10;AI-generated content may be incorrect.">
            <a:extLst>
              <a:ext uri="{FF2B5EF4-FFF2-40B4-BE49-F238E27FC236}">
                <a16:creationId xmlns:a16="http://schemas.microsoft.com/office/drawing/2014/main" id="{DB4B44B7-792C-C9FA-8CED-3C1992808D04}"/>
              </a:ext>
            </a:extLst>
          </p:cNvPr>
          <p:cNvPicPr>
            <a:picLocks noChangeAspect="1"/>
          </p:cNvPicPr>
          <p:nvPr/>
        </p:nvPicPr>
        <p:blipFill>
          <a:blip r:embed="rId2"/>
          <a:stretch>
            <a:fillRect/>
          </a:stretch>
        </p:blipFill>
        <p:spPr>
          <a:xfrm>
            <a:off x="103486" y="833752"/>
            <a:ext cx="11985027" cy="2725876"/>
          </a:xfrm>
          <a:prstGeom prst="rect">
            <a:avLst/>
          </a:prstGeom>
        </p:spPr>
      </p:pic>
      <p:pic>
        <p:nvPicPr>
          <p:cNvPr id="6" name="Picture 5" descr="A screenshot of a data&#10;&#10;AI-generated content may be incorrect.">
            <a:extLst>
              <a:ext uri="{FF2B5EF4-FFF2-40B4-BE49-F238E27FC236}">
                <a16:creationId xmlns:a16="http://schemas.microsoft.com/office/drawing/2014/main" id="{4119D0BA-67B7-D168-3395-3CE7D251030B}"/>
              </a:ext>
            </a:extLst>
          </p:cNvPr>
          <p:cNvPicPr>
            <a:picLocks noChangeAspect="1"/>
          </p:cNvPicPr>
          <p:nvPr/>
        </p:nvPicPr>
        <p:blipFill>
          <a:blip r:embed="rId3"/>
          <a:stretch>
            <a:fillRect/>
          </a:stretch>
        </p:blipFill>
        <p:spPr>
          <a:xfrm>
            <a:off x="2714228" y="3690256"/>
            <a:ext cx="6419780" cy="3049395"/>
          </a:xfrm>
          <a:prstGeom prst="rect">
            <a:avLst/>
          </a:prstGeom>
        </p:spPr>
      </p:pic>
    </p:spTree>
    <p:extLst>
      <p:ext uri="{BB962C8B-B14F-4D97-AF65-F5344CB8AC3E}">
        <p14:creationId xmlns:p14="http://schemas.microsoft.com/office/powerpoint/2010/main" val="3978432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503BAC-B8A6-3FDD-CE06-89C6928ADA0F}"/>
              </a:ext>
            </a:extLst>
          </p:cNvPr>
          <p:cNvSpPr txBox="1"/>
          <p:nvPr/>
        </p:nvSpPr>
        <p:spPr>
          <a:xfrm>
            <a:off x="892629" y="167432"/>
            <a:ext cx="10570028"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Ranking customers based on their total purchase amount</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4" name="Picture 3" descr="A screenshot of a computer code&#10;&#10;AI-generated content may be incorrect.">
            <a:extLst>
              <a:ext uri="{FF2B5EF4-FFF2-40B4-BE49-F238E27FC236}">
                <a16:creationId xmlns:a16="http://schemas.microsoft.com/office/drawing/2014/main" id="{049D923E-C601-19D9-4102-32609ECD7784}"/>
              </a:ext>
            </a:extLst>
          </p:cNvPr>
          <p:cNvPicPr>
            <a:picLocks noChangeAspect="1"/>
          </p:cNvPicPr>
          <p:nvPr/>
        </p:nvPicPr>
        <p:blipFill>
          <a:blip r:embed="rId2"/>
          <a:stretch>
            <a:fillRect/>
          </a:stretch>
        </p:blipFill>
        <p:spPr>
          <a:xfrm>
            <a:off x="1676114" y="864652"/>
            <a:ext cx="9307572" cy="2864145"/>
          </a:xfrm>
          <a:prstGeom prst="rect">
            <a:avLst/>
          </a:prstGeom>
        </p:spPr>
      </p:pic>
      <p:pic>
        <p:nvPicPr>
          <p:cNvPr id="7" name="Picture 6">
            <a:extLst>
              <a:ext uri="{FF2B5EF4-FFF2-40B4-BE49-F238E27FC236}">
                <a16:creationId xmlns:a16="http://schemas.microsoft.com/office/drawing/2014/main" id="{9C1B76B2-B3EB-FE21-F9BD-938F9CA3C63A}"/>
              </a:ext>
            </a:extLst>
          </p:cNvPr>
          <p:cNvPicPr>
            <a:picLocks noChangeAspect="1"/>
          </p:cNvPicPr>
          <p:nvPr/>
        </p:nvPicPr>
        <p:blipFill>
          <a:blip r:embed="rId3"/>
          <a:stretch>
            <a:fillRect/>
          </a:stretch>
        </p:blipFill>
        <p:spPr>
          <a:xfrm>
            <a:off x="4107870" y="3909816"/>
            <a:ext cx="3976260" cy="2864145"/>
          </a:xfrm>
          <a:prstGeom prst="rect">
            <a:avLst/>
          </a:prstGeom>
        </p:spPr>
      </p:pic>
    </p:spTree>
    <p:extLst>
      <p:ext uri="{BB962C8B-B14F-4D97-AF65-F5344CB8AC3E}">
        <p14:creationId xmlns:p14="http://schemas.microsoft.com/office/powerpoint/2010/main" val="4283662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80671B-74D3-8B06-5C40-84675191A9BA}"/>
              </a:ext>
            </a:extLst>
          </p:cNvPr>
          <p:cNvSpPr txBox="1"/>
          <p:nvPr/>
        </p:nvSpPr>
        <p:spPr>
          <a:xfrm>
            <a:off x="283029" y="315686"/>
            <a:ext cx="11713028" cy="584775"/>
          </a:xfrm>
          <a:prstGeom prst="rect">
            <a:avLst/>
          </a:prstGeom>
          <a:solidFill>
            <a:schemeClr val="accent2">
              <a:lumMod val="50000"/>
            </a:schemeClr>
          </a:solid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The Customers who didn’t  made any purchase in last 180 days</a:t>
            </a:r>
          </a:p>
        </p:txBody>
      </p:sp>
      <p:pic>
        <p:nvPicPr>
          <p:cNvPr id="4" name="Picture 3" descr="A computer code with text&#10;&#10;AI-generated content may be incorrect.">
            <a:extLst>
              <a:ext uri="{FF2B5EF4-FFF2-40B4-BE49-F238E27FC236}">
                <a16:creationId xmlns:a16="http://schemas.microsoft.com/office/drawing/2014/main" id="{6A2F55FB-D7B1-81F6-0E68-9FC60475C6D6}"/>
              </a:ext>
            </a:extLst>
          </p:cNvPr>
          <p:cNvPicPr>
            <a:picLocks noChangeAspect="1"/>
          </p:cNvPicPr>
          <p:nvPr/>
        </p:nvPicPr>
        <p:blipFill>
          <a:blip r:embed="rId2"/>
          <a:stretch>
            <a:fillRect/>
          </a:stretch>
        </p:blipFill>
        <p:spPr>
          <a:xfrm>
            <a:off x="1407311" y="1024110"/>
            <a:ext cx="9208082" cy="2558144"/>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CF31C6AF-18BB-835F-143C-E715AAF5820F}"/>
              </a:ext>
            </a:extLst>
          </p:cNvPr>
          <p:cNvPicPr>
            <a:picLocks noChangeAspect="1"/>
          </p:cNvPicPr>
          <p:nvPr/>
        </p:nvPicPr>
        <p:blipFill>
          <a:blip r:embed="rId3"/>
          <a:stretch>
            <a:fillRect/>
          </a:stretch>
        </p:blipFill>
        <p:spPr>
          <a:xfrm>
            <a:off x="2620877" y="3705903"/>
            <a:ext cx="6147695" cy="2934381"/>
          </a:xfrm>
          <a:prstGeom prst="rect">
            <a:avLst/>
          </a:prstGeom>
        </p:spPr>
      </p:pic>
    </p:spTree>
    <p:extLst>
      <p:ext uri="{BB962C8B-B14F-4D97-AF65-F5344CB8AC3E}">
        <p14:creationId xmlns:p14="http://schemas.microsoft.com/office/powerpoint/2010/main" val="1955258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20653A-FBEF-02EC-6082-F6BC19A82AC6}"/>
              </a:ext>
            </a:extLst>
          </p:cNvPr>
          <p:cNvSpPr txBox="1"/>
          <p:nvPr/>
        </p:nvSpPr>
        <p:spPr>
          <a:xfrm>
            <a:off x="2334984" y="304094"/>
            <a:ext cx="8137072"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The average price of products by category</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5" name="Picture 4" descr="A screen shot of a computer code&#10;&#10;AI-generated content may be incorrect.">
            <a:extLst>
              <a:ext uri="{FF2B5EF4-FFF2-40B4-BE49-F238E27FC236}">
                <a16:creationId xmlns:a16="http://schemas.microsoft.com/office/drawing/2014/main" id="{26159462-4F54-9D50-CA85-AEDE996EC305}"/>
              </a:ext>
            </a:extLst>
          </p:cNvPr>
          <p:cNvPicPr>
            <a:picLocks noChangeAspect="1"/>
          </p:cNvPicPr>
          <p:nvPr/>
        </p:nvPicPr>
        <p:blipFill>
          <a:blip r:embed="rId2"/>
          <a:stretch>
            <a:fillRect/>
          </a:stretch>
        </p:blipFill>
        <p:spPr>
          <a:xfrm>
            <a:off x="3195497" y="1338836"/>
            <a:ext cx="5801004" cy="2209907"/>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01DFDBAA-4DAC-114B-EC98-E25AA21955BB}"/>
              </a:ext>
            </a:extLst>
          </p:cNvPr>
          <p:cNvPicPr>
            <a:picLocks noChangeAspect="1"/>
          </p:cNvPicPr>
          <p:nvPr/>
        </p:nvPicPr>
        <p:blipFill>
          <a:blip r:embed="rId3"/>
          <a:stretch>
            <a:fillRect/>
          </a:stretch>
        </p:blipFill>
        <p:spPr>
          <a:xfrm>
            <a:off x="3970098" y="4107567"/>
            <a:ext cx="4099402" cy="2355530"/>
          </a:xfrm>
          <a:prstGeom prst="rect">
            <a:avLst/>
          </a:prstGeom>
        </p:spPr>
      </p:pic>
    </p:spTree>
    <p:extLst>
      <p:ext uri="{BB962C8B-B14F-4D97-AF65-F5344CB8AC3E}">
        <p14:creationId xmlns:p14="http://schemas.microsoft.com/office/powerpoint/2010/main" val="103919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53C507-8196-03A3-9DF1-13E1D923B059}"/>
              </a:ext>
            </a:extLst>
          </p:cNvPr>
          <p:cNvSpPr txBox="1"/>
          <p:nvPr/>
        </p:nvSpPr>
        <p:spPr>
          <a:xfrm>
            <a:off x="1817722" y="176343"/>
            <a:ext cx="8349342"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The total revenue generated by each product</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5" name="Picture 4" descr="A screen shot of a computer&#10;&#10;AI-generated content may be incorrect.">
            <a:extLst>
              <a:ext uri="{FF2B5EF4-FFF2-40B4-BE49-F238E27FC236}">
                <a16:creationId xmlns:a16="http://schemas.microsoft.com/office/drawing/2014/main" id="{C5BD8BA4-06E7-9C13-E6AB-2BFAC62C7119}"/>
              </a:ext>
            </a:extLst>
          </p:cNvPr>
          <p:cNvPicPr>
            <a:picLocks noChangeAspect="1"/>
          </p:cNvPicPr>
          <p:nvPr/>
        </p:nvPicPr>
        <p:blipFill>
          <a:blip r:embed="rId2"/>
          <a:stretch>
            <a:fillRect/>
          </a:stretch>
        </p:blipFill>
        <p:spPr>
          <a:xfrm>
            <a:off x="2448900" y="932227"/>
            <a:ext cx="7086985" cy="2354229"/>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B5084C03-020B-1DD3-F05F-19B3176EDFCD}"/>
              </a:ext>
            </a:extLst>
          </p:cNvPr>
          <p:cNvPicPr>
            <a:picLocks noChangeAspect="1"/>
          </p:cNvPicPr>
          <p:nvPr/>
        </p:nvPicPr>
        <p:blipFill>
          <a:blip r:embed="rId3"/>
          <a:stretch>
            <a:fillRect/>
          </a:stretch>
        </p:blipFill>
        <p:spPr>
          <a:xfrm>
            <a:off x="4152900" y="3429000"/>
            <a:ext cx="3886200" cy="3252657"/>
          </a:xfrm>
          <a:prstGeom prst="rect">
            <a:avLst/>
          </a:prstGeom>
        </p:spPr>
      </p:pic>
    </p:spTree>
    <p:extLst>
      <p:ext uri="{BB962C8B-B14F-4D97-AF65-F5344CB8AC3E}">
        <p14:creationId xmlns:p14="http://schemas.microsoft.com/office/powerpoint/2010/main" val="672541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3044-3DF7-7A13-AD0E-794C13F1AF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B604C6-49A1-5F66-9954-EAD3A3DE0AB2}"/>
              </a:ext>
            </a:extLst>
          </p:cNvPr>
          <p:cNvSpPr txBox="1"/>
          <p:nvPr/>
        </p:nvSpPr>
        <p:spPr>
          <a:xfrm>
            <a:off x="334736" y="180792"/>
            <a:ext cx="11522528"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How the product sales vary by category and supplier (quantity)</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4" name="Picture 3" descr="A computer code with black text&#10;&#10;AI-generated content may be incorrect.">
            <a:extLst>
              <a:ext uri="{FF2B5EF4-FFF2-40B4-BE49-F238E27FC236}">
                <a16:creationId xmlns:a16="http://schemas.microsoft.com/office/drawing/2014/main" id="{710EE8EA-8B79-2C16-B58E-85DFFC0283C1}"/>
              </a:ext>
            </a:extLst>
          </p:cNvPr>
          <p:cNvPicPr>
            <a:picLocks noChangeAspect="1"/>
          </p:cNvPicPr>
          <p:nvPr/>
        </p:nvPicPr>
        <p:blipFill>
          <a:blip r:embed="rId2"/>
          <a:stretch>
            <a:fillRect/>
          </a:stretch>
        </p:blipFill>
        <p:spPr>
          <a:xfrm>
            <a:off x="2054642" y="915861"/>
            <a:ext cx="8050055" cy="2723703"/>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030DE018-DEA4-534F-27E4-65BCAC50A092}"/>
              </a:ext>
            </a:extLst>
          </p:cNvPr>
          <p:cNvPicPr>
            <a:picLocks noChangeAspect="1"/>
          </p:cNvPicPr>
          <p:nvPr/>
        </p:nvPicPr>
        <p:blipFill>
          <a:blip r:embed="rId3"/>
          <a:stretch>
            <a:fillRect/>
          </a:stretch>
        </p:blipFill>
        <p:spPr>
          <a:xfrm>
            <a:off x="3770736" y="3789858"/>
            <a:ext cx="4650527" cy="2887350"/>
          </a:xfrm>
          <a:prstGeom prst="rect">
            <a:avLst/>
          </a:prstGeom>
        </p:spPr>
      </p:pic>
    </p:spTree>
    <p:extLst>
      <p:ext uri="{BB962C8B-B14F-4D97-AF65-F5344CB8AC3E}">
        <p14:creationId xmlns:p14="http://schemas.microsoft.com/office/powerpoint/2010/main" val="1429486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CFE58-1E29-0754-256F-7290C734DF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91FC01-59DE-1472-F3D5-ED7134E21FE8}"/>
              </a:ext>
            </a:extLst>
          </p:cNvPr>
          <p:cNvSpPr txBox="1"/>
          <p:nvPr/>
        </p:nvSpPr>
        <p:spPr>
          <a:xfrm>
            <a:off x="141513" y="180792"/>
            <a:ext cx="11865429" cy="569387"/>
          </a:xfrm>
          <a:prstGeom prst="rect">
            <a:avLst/>
          </a:prstGeom>
          <a:solidFill>
            <a:schemeClr val="accent2">
              <a:lumMod val="50000"/>
            </a:schemeClr>
          </a:solidFill>
        </p:spPr>
        <p:txBody>
          <a:bodyPr wrap="square" rtlCol="0">
            <a:spAutoFit/>
          </a:bodyPr>
          <a:lstStyle/>
          <a:p>
            <a:pPr algn="ctr"/>
            <a:r>
              <a:rPr lang="en-US" sz="3100" b="1" dirty="0">
                <a:solidFill>
                  <a:schemeClr val="bg1"/>
                </a:solidFill>
                <a:latin typeface="Times New Roman" panose="02020603050405020304" pitchFamily="18" charset="0"/>
                <a:cs typeface="Times New Roman" panose="02020603050405020304" pitchFamily="18" charset="0"/>
              </a:rPr>
              <a:t>The best-selling product within each category based on total revenue</a:t>
            </a:r>
            <a:endParaRPr lang="en-IN" sz="3100" b="1" dirty="0">
              <a:solidFill>
                <a:schemeClr val="bg1"/>
              </a:solidFill>
              <a:latin typeface="Times New Roman" panose="02020603050405020304" pitchFamily="18" charset="0"/>
              <a:cs typeface="Times New Roman" panose="02020603050405020304" pitchFamily="18" charset="0"/>
            </a:endParaRPr>
          </a:p>
        </p:txBody>
      </p:sp>
      <p:pic>
        <p:nvPicPr>
          <p:cNvPr id="12" name="Picture 11" descr="A screenshot of a computer&#10;&#10;AI-generated content may be incorrect.">
            <a:extLst>
              <a:ext uri="{FF2B5EF4-FFF2-40B4-BE49-F238E27FC236}">
                <a16:creationId xmlns:a16="http://schemas.microsoft.com/office/drawing/2014/main" id="{1A3DD7BA-5809-32E1-3C96-5B7F188B0B38}"/>
              </a:ext>
            </a:extLst>
          </p:cNvPr>
          <p:cNvPicPr>
            <a:picLocks noChangeAspect="1"/>
          </p:cNvPicPr>
          <p:nvPr/>
        </p:nvPicPr>
        <p:blipFill>
          <a:blip r:embed="rId2"/>
          <a:stretch>
            <a:fillRect/>
          </a:stretch>
        </p:blipFill>
        <p:spPr>
          <a:xfrm>
            <a:off x="3363687" y="4716696"/>
            <a:ext cx="5257800" cy="2003710"/>
          </a:xfrm>
          <a:prstGeom prst="rect">
            <a:avLst/>
          </a:prstGeom>
        </p:spPr>
      </p:pic>
      <p:pic>
        <p:nvPicPr>
          <p:cNvPr id="14" name="Picture 13" descr="A screen shot of a computer code&#10;&#10;AI-generated content may be incorrect.">
            <a:extLst>
              <a:ext uri="{FF2B5EF4-FFF2-40B4-BE49-F238E27FC236}">
                <a16:creationId xmlns:a16="http://schemas.microsoft.com/office/drawing/2014/main" id="{82A3EA1C-B0CF-8E2E-FBF6-8F6BDFADE76C}"/>
              </a:ext>
            </a:extLst>
          </p:cNvPr>
          <p:cNvPicPr>
            <a:picLocks noChangeAspect="1"/>
          </p:cNvPicPr>
          <p:nvPr/>
        </p:nvPicPr>
        <p:blipFill>
          <a:blip r:embed="rId3"/>
          <a:stretch>
            <a:fillRect/>
          </a:stretch>
        </p:blipFill>
        <p:spPr>
          <a:xfrm>
            <a:off x="889907" y="834063"/>
            <a:ext cx="10722787" cy="3814137"/>
          </a:xfrm>
          <a:prstGeom prst="rect">
            <a:avLst/>
          </a:prstGeom>
        </p:spPr>
      </p:pic>
    </p:spTree>
    <p:extLst>
      <p:ext uri="{BB962C8B-B14F-4D97-AF65-F5344CB8AC3E}">
        <p14:creationId xmlns:p14="http://schemas.microsoft.com/office/powerpoint/2010/main" val="3428537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 code&#10;&#10;AI-generated content may be incorrect.">
            <a:extLst>
              <a:ext uri="{FF2B5EF4-FFF2-40B4-BE49-F238E27FC236}">
                <a16:creationId xmlns:a16="http://schemas.microsoft.com/office/drawing/2014/main" id="{289EDE6B-C85F-D728-4B79-2356EB783F6C}"/>
              </a:ext>
            </a:extLst>
          </p:cNvPr>
          <p:cNvPicPr>
            <a:picLocks noChangeAspect="1"/>
          </p:cNvPicPr>
          <p:nvPr/>
        </p:nvPicPr>
        <p:blipFill>
          <a:blip r:embed="rId2"/>
          <a:stretch>
            <a:fillRect/>
          </a:stretch>
        </p:blipFill>
        <p:spPr>
          <a:xfrm>
            <a:off x="104338" y="1224392"/>
            <a:ext cx="6334120" cy="4991351"/>
          </a:xfrm>
          <a:prstGeom prst="rect">
            <a:avLst/>
          </a:prstGeom>
        </p:spPr>
      </p:pic>
      <p:sp>
        <p:nvSpPr>
          <p:cNvPr id="10" name="TextBox 9">
            <a:extLst>
              <a:ext uri="{FF2B5EF4-FFF2-40B4-BE49-F238E27FC236}">
                <a16:creationId xmlns:a16="http://schemas.microsoft.com/office/drawing/2014/main" id="{F3121B67-D451-2FBE-57D8-F1488B5E817F}"/>
              </a:ext>
            </a:extLst>
          </p:cNvPr>
          <p:cNvSpPr txBox="1"/>
          <p:nvPr/>
        </p:nvSpPr>
        <p:spPr>
          <a:xfrm>
            <a:off x="1562100" y="349869"/>
            <a:ext cx="9067800"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The monthly trends in order volume and revenue</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3" name="Picture 2" descr="A screenshot of a table&#10;&#10;AI-generated content may be incorrect.">
            <a:extLst>
              <a:ext uri="{FF2B5EF4-FFF2-40B4-BE49-F238E27FC236}">
                <a16:creationId xmlns:a16="http://schemas.microsoft.com/office/drawing/2014/main" id="{CD387F3C-F57E-4928-E9DC-650FE103AD14}"/>
              </a:ext>
            </a:extLst>
          </p:cNvPr>
          <p:cNvPicPr>
            <a:picLocks noChangeAspect="1"/>
          </p:cNvPicPr>
          <p:nvPr/>
        </p:nvPicPr>
        <p:blipFill>
          <a:blip r:embed="rId3"/>
          <a:stretch>
            <a:fillRect/>
          </a:stretch>
        </p:blipFill>
        <p:spPr>
          <a:xfrm>
            <a:off x="6580584" y="1643743"/>
            <a:ext cx="5507078" cy="4068864"/>
          </a:xfrm>
          <a:prstGeom prst="rect">
            <a:avLst/>
          </a:prstGeom>
        </p:spPr>
      </p:pic>
    </p:spTree>
    <p:extLst>
      <p:ext uri="{BB962C8B-B14F-4D97-AF65-F5344CB8AC3E}">
        <p14:creationId xmlns:p14="http://schemas.microsoft.com/office/powerpoint/2010/main" val="2079663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883B53-E528-AA27-3818-F3228D3E5324}"/>
              </a:ext>
            </a:extLst>
          </p:cNvPr>
          <p:cNvSpPr txBox="1"/>
          <p:nvPr/>
        </p:nvSpPr>
        <p:spPr>
          <a:xfrm>
            <a:off x="925900" y="328670"/>
            <a:ext cx="10688541" cy="584775"/>
          </a:xfrm>
          <a:prstGeom prst="rect">
            <a:avLst/>
          </a:prstGeom>
          <a:solidFill>
            <a:schemeClr val="accent2">
              <a:lumMod val="50000"/>
            </a:schemeClr>
          </a:solidFill>
        </p:spPr>
        <p:txBody>
          <a:bodyPr wrap="square" rtlCol="0">
            <a:spAutoFit/>
          </a:bodyPr>
          <a:lstStyle/>
          <a:p>
            <a:r>
              <a:rPr lang="en-US" dirty="0"/>
              <a:t> </a:t>
            </a:r>
            <a:r>
              <a:rPr lang="en-US" sz="3200" b="1" dirty="0">
                <a:solidFill>
                  <a:schemeClr val="bg1"/>
                </a:solidFill>
                <a:latin typeface="Times New Roman" panose="02020603050405020304" pitchFamily="18" charset="0"/>
                <a:cs typeface="Times New Roman" panose="02020603050405020304" pitchFamily="18" charset="0"/>
              </a:rPr>
              <a:t>How do order patterns vary across weekdays and weekends</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5" name="Picture 4" descr="A screenshot of a computer&#10;&#10;AI-generated content may be incorrect.">
            <a:extLst>
              <a:ext uri="{FF2B5EF4-FFF2-40B4-BE49-F238E27FC236}">
                <a16:creationId xmlns:a16="http://schemas.microsoft.com/office/drawing/2014/main" id="{7F095038-9F8E-1AEB-2EC1-7278909DAAE6}"/>
              </a:ext>
            </a:extLst>
          </p:cNvPr>
          <p:cNvPicPr>
            <a:picLocks noChangeAspect="1"/>
          </p:cNvPicPr>
          <p:nvPr/>
        </p:nvPicPr>
        <p:blipFill>
          <a:blip r:embed="rId2"/>
          <a:stretch>
            <a:fillRect/>
          </a:stretch>
        </p:blipFill>
        <p:spPr>
          <a:xfrm>
            <a:off x="129342" y="1055913"/>
            <a:ext cx="11933316" cy="3657601"/>
          </a:xfrm>
          <a:prstGeom prst="rect">
            <a:avLst/>
          </a:prstGeom>
        </p:spPr>
      </p:pic>
      <p:pic>
        <p:nvPicPr>
          <p:cNvPr id="8" name="Picture 7" descr="A screenshot of a computer screen&#10;&#10;AI-generated content may be incorrect.">
            <a:extLst>
              <a:ext uri="{FF2B5EF4-FFF2-40B4-BE49-F238E27FC236}">
                <a16:creationId xmlns:a16="http://schemas.microsoft.com/office/drawing/2014/main" id="{3A584F89-2A40-85D2-31B7-8D08E604BD4E}"/>
              </a:ext>
            </a:extLst>
          </p:cNvPr>
          <p:cNvPicPr>
            <a:picLocks noChangeAspect="1"/>
          </p:cNvPicPr>
          <p:nvPr/>
        </p:nvPicPr>
        <p:blipFill>
          <a:blip r:embed="rId3"/>
          <a:stretch>
            <a:fillRect/>
          </a:stretch>
        </p:blipFill>
        <p:spPr>
          <a:xfrm>
            <a:off x="2124323" y="5018314"/>
            <a:ext cx="7407534" cy="1197429"/>
          </a:xfrm>
          <a:prstGeom prst="rect">
            <a:avLst/>
          </a:prstGeom>
        </p:spPr>
      </p:pic>
    </p:spTree>
    <p:extLst>
      <p:ext uri="{BB962C8B-B14F-4D97-AF65-F5344CB8AC3E}">
        <p14:creationId xmlns:p14="http://schemas.microsoft.com/office/powerpoint/2010/main" val="2063969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39C8AF-D745-2356-7A3E-3AADFB9D903F}"/>
              </a:ext>
            </a:extLst>
          </p:cNvPr>
          <p:cNvSpPr txBox="1"/>
          <p:nvPr/>
        </p:nvSpPr>
        <p:spPr>
          <a:xfrm>
            <a:off x="2193471" y="195943"/>
            <a:ext cx="7462157"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The Suppliers who provide most products </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5" name="Picture 4" descr="A screenshot of a computer&#10;&#10;AI-generated content may be incorrect.">
            <a:extLst>
              <a:ext uri="{FF2B5EF4-FFF2-40B4-BE49-F238E27FC236}">
                <a16:creationId xmlns:a16="http://schemas.microsoft.com/office/drawing/2014/main" id="{9F0F2707-7D11-CE34-2DCD-FA6C5ED6AE18}"/>
              </a:ext>
            </a:extLst>
          </p:cNvPr>
          <p:cNvPicPr>
            <a:picLocks noChangeAspect="1"/>
          </p:cNvPicPr>
          <p:nvPr/>
        </p:nvPicPr>
        <p:blipFill>
          <a:blip r:embed="rId2"/>
          <a:stretch>
            <a:fillRect/>
          </a:stretch>
        </p:blipFill>
        <p:spPr>
          <a:xfrm>
            <a:off x="3602488" y="4304753"/>
            <a:ext cx="4987023" cy="2309489"/>
          </a:xfrm>
          <a:prstGeom prst="rect">
            <a:avLst/>
          </a:prstGeom>
        </p:spPr>
      </p:pic>
      <p:pic>
        <p:nvPicPr>
          <p:cNvPr id="8" name="Picture 7" descr="A computer code with black text&#10;&#10;AI-generated content may be incorrect.">
            <a:extLst>
              <a:ext uri="{FF2B5EF4-FFF2-40B4-BE49-F238E27FC236}">
                <a16:creationId xmlns:a16="http://schemas.microsoft.com/office/drawing/2014/main" id="{D67F30BB-4FCB-4929-3BA4-05E10A218B3F}"/>
              </a:ext>
            </a:extLst>
          </p:cNvPr>
          <p:cNvPicPr>
            <a:picLocks noChangeAspect="1"/>
          </p:cNvPicPr>
          <p:nvPr/>
        </p:nvPicPr>
        <p:blipFill>
          <a:blip r:embed="rId3"/>
          <a:stretch>
            <a:fillRect/>
          </a:stretch>
        </p:blipFill>
        <p:spPr>
          <a:xfrm>
            <a:off x="1271573" y="1305505"/>
            <a:ext cx="9648853" cy="2428295"/>
          </a:xfrm>
          <a:prstGeom prst="rect">
            <a:avLst/>
          </a:prstGeom>
        </p:spPr>
      </p:pic>
    </p:spTree>
    <p:extLst>
      <p:ext uri="{BB962C8B-B14F-4D97-AF65-F5344CB8AC3E}">
        <p14:creationId xmlns:p14="http://schemas.microsoft.com/office/powerpoint/2010/main" val="1251132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385E-682A-47A8-CB36-61A8E24510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15CF4D-DB34-FE3D-81E2-E9DF256F8119}"/>
              </a:ext>
            </a:extLst>
          </p:cNvPr>
          <p:cNvSpPr txBox="1"/>
          <p:nvPr/>
        </p:nvSpPr>
        <p:spPr>
          <a:xfrm>
            <a:off x="225877" y="195943"/>
            <a:ext cx="11740243"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The suppliers who contribute the most to total product sales</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4" name="Picture 3" descr="A computer code with black text&#10;&#10;AI-generated content may be incorrect.">
            <a:extLst>
              <a:ext uri="{FF2B5EF4-FFF2-40B4-BE49-F238E27FC236}">
                <a16:creationId xmlns:a16="http://schemas.microsoft.com/office/drawing/2014/main" id="{780FEBDA-9213-2D72-9E74-5C64256AC70B}"/>
              </a:ext>
            </a:extLst>
          </p:cNvPr>
          <p:cNvPicPr>
            <a:picLocks noChangeAspect="1"/>
          </p:cNvPicPr>
          <p:nvPr/>
        </p:nvPicPr>
        <p:blipFill>
          <a:blip r:embed="rId2"/>
          <a:stretch>
            <a:fillRect/>
          </a:stretch>
        </p:blipFill>
        <p:spPr>
          <a:xfrm>
            <a:off x="1679602" y="1081190"/>
            <a:ext cx="8988397" cy="308971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27EA855C-5829-F213-E6A2-0C037E346BAF}"/>
              </a:ext>
            </a:extLst>
          </p:cNvPr>
          <p:cNvPicPr>
            <a:picLocks noChangeAspect="1"/>
          </p:cNvPicPr>
          <p:nvPr/>
        </p:nvPicPr>
        <p:blipFill>
          <a:blip r:embed="rId3"/>
          <a:stretch>
            <a:fillRect/>
          </a:stretch>
        </p:blipFill>
        <p:spPr>
          <a:xfrm>
            <a:off x="4002236" y="4327593"/>
            <a:ext cx="4187526" cy="2334464"/>
          </a:xfrm>
          <a:prstGeom prst="rect">
            <a:avLst/>
          </a:prstGeom>
        </p:spPr>
      </p:pic>
    </p:spTree>
    <p:extLst>
      <p:ext uri="{BB962C8B-B14F-4D97-AF65-F5344CB8AC3E}">
        <p14:creationId xmlns:p14="http://schemas.microsoft.com/office/powerpoint/2010/main" val="2018818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11E6D-B82A-6763-471E-3A5BE8BCEAA9}"/>
              </a:ext>
            </a:extLst>
          </p:cNvPr>
          <p:cNvSpPr>
            <a:spLocks noGrp="1"/>
          </p:cNvSpPr>
          <p:nvPr>
            <p:ph type="title"/>
          </p:nvPr>
        </p:nvSpPr>
        <p:spPr>
          <a:xfrm>
            <a:off x="321128" y="113244"/>
            <a:ext cx="11549743" cy="690788"/>
          </a:xfrm>
          <a:solidFill>
            <a:schemeClr val="accent2">
              <a:lumMod val="50000"/>
            </a:schemeClr>
          </a:solidFill>
        </p:spPr>
        <p:txBody>
          <a:bodyPr>
            <a:normAutofit fontScale="90000"/>
          </a:bodyPr>
          <a:lstStyle/>
          <a:p>
            <a:pPr algn="ctr">
              <a:lnSpc>
                <a:spcPct val="100000"/>
              </a:lnSpc>
              <a:buClr>
                <a:srgbClr val="000000"/>
              </a:buClr>
              <a:buFont typeface="Arial"/>
            </a:pPr>
            <a:r>
              <a:rPr lang="en-US" sz="3200" b="1" dirty="0">
                <a:solidFill>
                  <a:schemeClr val="bg1"/>
                </a:solidFill>
                <a:latin typeface="Times New Roman" panose="02020603050405020304" pitchFamily="18" charset="0"/>
                <a:cs typeface="Times New Roman" panose="02020603050405020304" pitchFamily="18" charset="0"/>
                <a:sym typeface="Arial"/>
              </a:rPr>
              <a:t>The supplier who contribute the most of revenue of a specific category</a:t>
            </a:r>
            <a:endParaRPr lang="en-IN" sz="3200" b="1" dirty="0">
              <a:solidFill>
                <a:schemeClr val="bg1"/>
              </a:solidFill>
              <a:latin typeface="Times New Roman" panose="02020603050405020304" pitchFamily="18" charset="0"/>
              <a:cs typeface="Times New Roman" panose="02020603050405020304" pitchFamily="18" charset="0"/>
              <a:sym typeface="Arial"/>
            </a:endParaRPr>
          </a:p>
        </p:txBody>
      </p:sp>
      <p:pic>
        <p:nvPicPr>
          <p:cNvPr id="4" name="Picture 3" descr="A computer code with text&#10;&#10;AI-generated content may be incorrect.">
            <a:extLst>
              <a:ext uri="{FF2B5EF4-FFF2-40B4-BE49-F238E27FC236}">
                <a16:creationId xmlns:a16="http://schemas.microsoft.com/office/drawing/2014/main" id="{D4290B45-C5B9-6E2A-1447-DBEDF95D6876}"/>
              </a:ext>
            </a:extLst>
          </p:cNvPr>
          <p:cNvPicPr>
            <a:picLocks noChangeAspect="1"/>
          </p:cNvPicPr>
          <p:nvPr/>
        </p:nvPicPr>
        <p:blipFill>
          <a:blip r:embed="rId2"/>
          <a:stretch>
            <a:fillRect/>
          </a:stretch>
        </p:blipFill>
        <p:spPr>
          <a:xfrm>
            <a:off x="925286" y="853773"/>
            <a:ext cx="10450285" cy="389358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EEC7078E-9915-8F13-D256-59F0B2A08543}"/>
              </a:ext>
            </a:extLst>
          </p:cNvPr>
          <p:cNvPicPr>
            <a:picLocks noChangeAspect="1"/>
          </p:cNvPicPr>
          <p:nvPr/>
        </p:nvPicPr>
        <p:blipFill>
          <a:blip r:embed="rId3"/>
          <a:stretch>
            <a:fillRect/>
          </a:stretch>
        </p:blipFill>
        <p:spPr>
          <a:xfrm>
            <a:off x="3548743" y="4797099"/>
            <a:ext cx="4822371" cy="1888240"/>
          </a:xfrm>
          <a:prstGeom prst="rect">
            <a:avLst/>
          </a:prstGeom>
        </p:spPr>
      </p:pic>
    </p:spTree>
    <p:extLst>
      <p:ext uri="{BB962C8B-B14F-4D97-AF65-F5344CB8AC3E}">
        <p14:creationId xmlns:p14="http://schemas.microsoft.com/office/powerpoint/2010/main" val="1444482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24E644-496B-0651-509E-CC884D09C98B}"/>
              </a:ext>
            </a:extLst>
          </p:cNvPr>
          <p:cNvSpPr txBox="1"/>
          <p:nvPr/>
        </p:nvSpPr>
        <p:spPr>
          <a:xfrm>
            <a:off x="1323651" y="238488"/>
            <a:ext cx="8935780"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The total orders processed by each employee</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5" name="Picture 4" descr="A screenshot of a computer&#10;&#10;AI-generated content may be incorrect.">
            <a:extLst>
              <a:ext uri="{FF2B5EF4-FFF2-40B4-BE49-F238E27FC236}">
                <a16:creationId xmlns:a16="http://schemas.microsoft.com/office/drawing/2014/main" id="{DBEB3D3F-9102-5D49-5680-B68B88AD27E5}"/>
              </a:ext>
            </a:extLst>
          </p:cNvPr>
          <p:cNvPicPr>
            <a:picLocks noChangeAspect="1"/>
          </p:cNvPicPr>
          <p:nvPr/>
        </p:nvPicPr>
        <p:blipFill>
          <a:blip r:embed="rId2"/>
          <a:stretch>
            <a:fillRect/>
          </a:stretch>
        </p:blipFill>
        <p:spPr>
          <a:xfrm>
            <a:off x="3590692" y="3429000"/>
            <a:ext cx="4813079" cy="3281881"/>
          </a:xfrm>
          <a:prstGeom prst="rect">
            <a:avLst/>
          </a:prstGeom>
        </p:spPr>
      </p:pic>
      <p:pic>
        <p:nvPicPr>
          <p:cNvPr id="8" name="Picture 7" descr="A computer code with black text&#10;&#10;AI-generated content may be incorrect.">
            <a:extLst>
              <a:ext uri="{FF2B5EF4-FFF2-40B4-BE49-F238E27FC236}">
                <a16:creationId xmlns:a16="http://schemas.microsoft.com/office/drawing/2014/main" id="{08CE3961-01F6-F6D5-2A33-0F63A5CFD1EB}"/>
              </a:ext>
            </a:extLst>
          </p:cNvPr>
          <p:cNvPicPr>
            <a:picLocks noChangeAspect="1"/>
          </p:cNvPicPr>
          <p:nvPr/>
        </p:nvPicPr>
        <p:blipFill>
          <a:blip r:embed="rId3"/>
          <a:stretch>
            <a:fillRect/>
          </a:stretch>
        </p:blipFill>
        <p:spPr>
          <a:xfrm>
            <a:off x="1730634" y="1042877"/>
            <a:ext cx="7969414" cy="2255494"/>
          </a:xfrm>
          <a:prstGeom prst="rect">
            <a:avLst/>
          </a:prstGeom>
        </p:spPr>
      </p:pic>
    </p:spTree>
    <p:extLst>
      <p:ext uri="{BB962C8B-B14F-4D97-AF65-F5344CB8AC3E}">
        <p14:creationId xmlns:p14="http://schemas.microsoft.com/office/powerpoint/2010/main" val="2081579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04026-4096-64EF-1795-38A7C319156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A653F1-9EA6-2C6A-108D-B65DEEF24442}"/>
              </a:ext>
            </a:extLst>
          </p:cNvPr>
          <p:cNvSpPr txBox="1"/>
          <p:nvPr/>
        </p:nvSpPr>
        <p:spPr>
          <a:xfrm>
            <a:off x="1247451" y="173174"/>
            <a:ext cx="8935780"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The total sales value processed by each employee</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4" name="Picture 3" descr="A screenshot of a computer&#10;&#10;AI-generated content may be incorrect.">
            <a:extLst>
              <a:ext uri="{FF2B5EF4-FFF2-40B4-BE49-F238E27FC236}">
                <a16:creationId xmlns:a16="http://schemas.microsoft.com/office/drawing/2014/main" id="{2597AE94-892D-A59C-5D3D-C7E942B4F260}"/>
              </a:ext>
            </a:extLst>
          </p:cNvPr>
          <p:cNvPicPr>
            <a:picLocks noChangeAspect="1"/>
          </p:cNvPicPr>
          <p:nvPr/>
        </p:nvPicPr>
        <p:blipFill>
          <a:blip r:embed="rId2"/>
          <a:stretch>
            <a:fillRect/>
          </a:stretch>
        </p:blipFill>
        <p:spPr>
          <a:xfrm>
            <a:off x="4120242" y="3506789"/>
            <a:ext cx="3951515" cy="3151807"/>
          </a:xfrm>
          <a:prstGeom prst="rect">
            <a:avLst/>
          </a:prstGeom>
        </p:spPr>
      </p:pic>
      <p:pic>
        <p:nvPicPr>
          <p:cNvPr id="6" name="Picture 5" descr="A screenshot of a computer code&#10;&#10;AI-generated content may be incorrect.">
            <a:extLst>
              <a:ext uri="{FF2B5EF4-FFF2-40B4-BE49-F238E27FC236}">
                <a16:creationId xmlns:a16="http://schemas.microsoft.com/office/drawing/2014/main" id="{6FAF446E-6A2F-988B-6F4C-5F2D4F3C2CD3}"/>
              </a:ext>
            </a:extLst>
          </p:cNvPr>
          <p:cNvPicPr>
            <a:picLocks noChangeAspect="1"/>
          </p:cNvPicPr>
          <p:nvPr/>
        </p:nvPicPr>
        <p:blipFill>
          <a:blip r:embed="rId3"/>
          <a:stretch>
            <a:fillRect/>
          </a:stretch>
        </p:blipFill>
        <p:spPr>
          <a:xfrm>
            <a:off x="2324270" y="812736"/>
            <a:ext cx="7261115" cy="2593262"/>
          </a:xfrm>
          <a:prstGeom prst="rect">
            <a:avLst/>
          </a:prstGeom>
        </p:spPr>
      </p:pic>
    </p:spTree>
    <p:extLst>
      <p:ext uri="{BB962C8B-B14F-4D97-AF65-F5344CB8AC3E}">
        <p14:creationId xmlns:p14="http://schemas.microsoft.com/office/powerpoint/2010/main" val="3666817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290A3E-3E5E-4365-11AD-781369B52083}"/>
              </a:ext>
            </a:extLst>
          </p:cNvPr>
          <p:cNvSpPr txBox="1"/>
          <p:nvPr/>
        </p:nvSpPr>
        <p:spPr>
          <a:xfrm>
            <a:off x="1433489" y="163639"/>
            <a:ext cx="8654143"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The average order value handled per employee</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4" name="Picture 3" descr="A computer code with black text&#10;&#10;AI-generated content may be incorrect.">
            <a:extLst>
              <a:ext uri="{FF2B5EF4-FFF2-40B4-BE49-F238E27FC236}">
                <a16:creationId xmlns:a16="http://schemas.microsoft.com/office/drawing/2014/main" id="{D82095ED-8CFA-8200-085A-67EFA602D3E5}"/>
              </a:ext>
            </a:extLst>
          </p:cNvPr>
          <p:cNvPicPr>
            <a:picLocks noChangeAspect="1"/>
          </p:cNvPicPr>
          <p:nvPr/>
        </p:nvPicPr>
        <p:blipFill>
          <a:blip r:embed="rId2"/>
          <a:stretch>
            <a:fillRect/>
          </a:stretch>
        </p:blipFill>
        <p:spPr>
          <a:xfrm>
            <a:off x="2436380" y="882551"/>
            <a:ext cx="7319239" cy="2546449"/>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2F4F06B8-45F0-A10D-F924-3A8283EF9DF4}"/>
              </a:ext>
            </a:extLst>
          </p:cNvPr>
          <p:cNvPicPr>
            <a:picLocks noChangeAspect="1"/>
          </p:cNvPicPr>
          <p:nvPr/>
        </p:nvPicPr>
        <p:blipFill>
          <a:blip r:embed="rId3"/>
          <a:stretch>
            <a:fillRect/>
          </a:stretch>
        </p:blipFill>
        <p:spPr>
          <a:xfrm>
            <a:off x="3973287" y="3474810"/>
            <a:ext cx="3911230" cy="3219551"/>
          </a:xfrm>
          <a:prstGeom prst="rect">
            <a:avLst/>
          </a:prstGeom>
        </p:spPr>
      </p:pic>
    </p:spTree>
    <p:extLst>
      <p:ext uri="{BB962C8B-B14F-4D97-AF65-F5344CB8AC3E}">
        <p14:creationId xmlns:p14="http://schemas.microsoft.com/office/powerpoint/2010/main" val="3411497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B160F2-BAE9-A677-53A1-6EE8CA1C7898}"/>
              </a:ext>
            </a:extLst>
          </p:cNvPr>
          <p:cNvSpPr txBox="1"/>
          <p:nvPr/>
        </p:nvSpPr>
        <p:spPr>
          <a:xfrm>
            <a:off x="2388507" y="210147"/>
            <a:ext cx="7414986" cy="584775"/>
          </a:xfrm>
          <a:prstGeom prst="rect">
            <a:avLst/>
          </a:prstGeom>
          <a:solidFill>
            <a:schemeClr val="accent2">
              <a:lumMod val="50000"/>
            </a:schemeClr>
          </a:solidFill>
        </p:spPr>
        <p:txBody>
          <a:bodyPr wrap="square" rtlCol="0">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The average </a:t>
            </a:r>
            <a:r>
              <a:rPr lang="en-US" sz="3200" b="1" dirty="0">
                <a:solidFill>
                  <a:schemeClr val="bg1"/>
                </a:solidFill>
                <a:latin typeface="Times New Roman" panose="02020603050405020304" pitchFamily="18" charset="0"/>
                <a:cs typeface="Times New Roman" panose="02020603050405020304" pitchFamily="18" charset="0"/>
              </a:rPr>
              <a:t>quantity</a:t>
            </a:r>
            <a:r>
              <a:rPr lang="en-US" sz="2800" b="1" dirty="0">
                <a:solidFill>
                  <a:schemeClr val="bg1"/>
                </a:solidFill>
                <a:latin typeface="Times New Roman" panose="02020603050405020304" pitchFamily="18" charset="0"/>
                <a:cs typeface="Times New Roman" panose="02020603050405020304" pitchFamily="18" charset="0"/>
              </a:rPr>
              <a:t> ordered per product</a:t>
            </a:r>
            <a:endParaRPr lang="en-IN" dirty="0">
              <a:solidFill>
                <a:schemeClr val="bg1"/>
              </a:solidFill>
            </a:endParaRPr>
          </a:p>
        </p:txBody>
      </p:sp>
      <p:pic>
        <p:nvPicPr>
          <p:cNvPr id="4" name="Picture 3" descr="A computer code with black text&#10;&#10;AI-generated content may be incorrect.">
            <a:extLst>
              <a:ext uri="{FF2B5EF4-FFF2-40B4-BE49-F238E27FC236}">
                <a16:creationId xmlns:a16="http://schemas.microsoft.com/office/drawing/2014/main" id="{CDD05C3C-9392-A2D8-A079-A0603A3265B4}"/>
              </a:ext>
            </a:extLst>
          </p:cNvPr>
          <p:cNvPicPr>
            <a:picLocks noChangeAspect="1"/>
          </p:cNvPicPr>
          <p:nvPr/>
        </p:nvPicPr>
        <p:blipFill>
          <a:blip r:embed="rId2"/>
          <a:stretch>
            <a:fillRect/>
          </a:stretch>
        </p:blipFill>
        <p:spPr>
          <a:xfrm>
            <a:off x="2087488" y="990712"/>
            <a:ext cx="8017023" cy="2507633"/>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35A14FE9-7496-7AC9-0353-88A566FE79F8}"/>
              </a:ext>
            </a:extLst>
          </p:cNvPr>
          <p:cNvPicPr>
            <a:picLocks noChangeAspect="1"/>
          </p:cNvPicPr>
          <p:nvPr/>
        </p:nvPicPr>
        <p:blipFill>
          <a:blip r:embed="rId3"/>
          <a:stretch>
            <a:fillRect/>
          </a:stretch>
        </p:blipFill>
        <p:spPr>
          <a:xfrm>
            <a:off x="4125686" y="3694135"/>
            <a:ext cx="4313263" cy="2978807"/>
          </a:xfrm>
          <a:prstGeom prst="rect">
            <a:avLst/>
          </a:prstGeom>
        </p:spPr>
      </p:pic>
    </p:spTree>
    <p:extLst>
      <p:ext uri="{BB962C8B-B14F-4D97-AF65-F5344CB8AC3E}">
        <p14:creationId xmlns:p14="http://schemas.microsoft.com/office/powerpoint/2010/main" val="551550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41E87C-AB6A-E239-568F-7EF2A22093F4}"/>
              </a:ext>
            </a:extLst>
          </p:cNvPr>
          <p:cNvSpPr txBox="1"/>
          <p:nvPr/>
        </p:nvSpPr>
        <p:spPr>
          <a:xfrm>
            <a:off x="1322491" y="96445"/>
            <a:ext cx="8923320" cy="584775"/>
          </a:xfrm>
          <a:prstGeom prst="rect">
            <a:avLst/>
          </a:prstGeom>
          <a:solidFill>
            <a:schemeClr val="accent2">
              <a:lumMod val="50000"/>
            </a:schemeClr>
          </a:solidFill>
        </p:spPr>
        <p:txBody>
          <a:bodyPr wrap="square" rtlCol="0">
            <a:spAutoFit/>
          </a:bodyPr>
          <a:lstStyle/>
          <a:p>
            <a:pPr algn="ctr"/>
            <a:r>
              <a:rPr lang="en-US" sz="3200" b="1" dirty="0">
                <a:solidFill>
                  <a:schemeClr val="bg1"/>
                </a:solidFill>
                <a:latin typeface="Times New Roman" panose="02020603050405020304" pitchFamily="18" charset="0"/>
                <a:cs typeface="Times New Roman" panose="02020603050405020304" pitchFamily="18" charset="0"/>
              </a:rPr>
              <a:t>Products Most Frequently Purchased in Bulk</a:t>
            </a:r>
            <a:endParaRPr lang="en-IN" sz="3200" b="1" dirty="0">
              <a:solidFill>
                <a:schemeClr val="bg1"/>
              </a:solidFill>
              <a:latin typeface="Times New Roman" panose="02020603050405020304" pitchFamily="18" charset="0"/>
              <a:cs typeface="Times New Roman" panose="02020603050405020304" pitchFamily="18" charset="0"/>
            </a:endParaRPr>
          </a:p>
        </p:txBody>
      </p:sp>
      <p:pic>
        <p:nvPicPr>
          <p:cNvPr id="5" name="Picture 4" descr="A screenshot of a list of food items&#10;&#10;AI-generated content may be incorrect.">
            <a:extLst>
              <a:ext uri="{FF2B5EF4-FFF2-40B4-BE49-F238E27FC236}">
                <a16:creationId xmlns:a16="http://schemas.microsoft.com/office/drawing/2014/main" id="{CC8AAD9B-5F06-9CA2-C371-CED515A5C0A9}"/>
              </a:ext>
            </a:extLst>
          </p:cNvPr>
          <p:cNvPicPr>
            <a:picLocks noChangeAspect="1"/>
          </p:cNvPicPr>
          <p:nvPr/>
        </p:nvPicPr>
        <p:blipFill>
          <a:blip r:embed="rId2"/>
          <a:stretch>
            <a:fillRect/>
          </a:stretch>
        </p:blipFill>
        <p:spPr>
          <a:xfrm>
            <a:off x="3875314" y="3103955"/>
            <a:ext cx="4147457" cy="3698434"/>
          </a:xfrm>
          <a:prstGeom prst="rect">
            <a:avLst/>
          </a:prstGeom>
        </p:spPr>
      </p:pic>
      <p:pic>
        <p:nvPicPr>
          <p:cNvPr id="8" name="Picture 7" descr="A screen shot of a computer code&#10;&#10;AI-generated content may be incorrect.">
            <a:extLst>
              <a:ext uri="{FF2B5EF4-FFF2-40B4-BE49-F238E27FC236}">
                <a16:creationId xmlns:a16="http://schemas.microsoft.com/office/drawing/2014/main" id="{3FC2B37B-E219-DF21-1C37-682B1D6BB1BF}"/>
              </a:ext>
            </a:extLst>
          </p:cNvPr>
          <p:cNvPicPr>
            <a:picLocks noChangeAspect="1"/>
          </p:cNvPicPr>
          <p:nvPr/>
        </p:nvPicPr>
        <p:blipFill>
          <a:blip r:embed="rId3"/>
          <a:stretch>
            <a:fillRect/>
          </a:stretch>
        </p:blipFill>
        <p:spPr>
          <a:xfrm>
            <a:off x="1322491" y="780718"/>
            <a:ext cx="8923320" cy="2223739"/>
          </a:xfrm>
          <a:prstGeom prst="rect">
            <a:avLst/>
          </a:prstGeom>
        </p:spPr>
      </p:pic>
    </p:spTree>
    <p:extLst>
      <p:ext uri="{BB962C8B-B14F-4D97-AF65-F5344CB8AC3E}">
        <p14:creationId xmlns:p14="http://schemas.microsoft.com/office/powerpoint/2010/main" val="324495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3C1A0C-290F-CCFD-5AC0-B86981EB591B}"/>
              </a:ext>
            </a:extLst>
          </p:cNvPr>
          <p:cNvSpPr txBox="1"/>
          <p:nvPr/>
        </p:nvSpPr>
        <p:spPr>
          <a:xfrm>
            <a:off x="368300" y="203200"/>
            <a:ext cx="6210300" cy="646331"/>
          </a:xfrm>
          <a:prstGeom prst="rect">
            <a:avLst/>
          </a:prstGeom>
          <a:noFill/>
        </p:spPr>
        <p:txBody>
          <a:bodyPr wrap="square" rtlCol="0">
            <a:spAutoFit/>
          </a:bodyPr>
          <a:lstStyle/>
          <a:p>
            <a:r>
              <a:rPr lang="en-IN" sz="3600" b="1" dirty="0">
                <a:solidFill>
                  <a:srgbClr val="FF0000"/>
                </a:solidFill>
              </a:rPr>
              <a:t>Challenges Faced :</a:t>
            </a:r>
            <a:endParaRPr lang="en-IN" sz="3600" dirty="0"/>
          </a:p>
        </p:txBody>
      </p:sp>
      <p:sp>
        <p:nvSpPr>
          <p:cNvPr id="3" name="TextBox 2">
            <a:extLst>
              <a:ext uri="{FF2B5EF4-FFF2-40B4-BE49-F238E27FC236}">
                <a16:creationId xmlns:a16="http://schemas.microsoft.com/office/drawing/2014/main" id="{05D8717A-58E1-43A0-A64E-7A21E5FFE4BB}"/>
              </a:ext>
            </a:extLst>
          </p:cNvPr>
          <p:cNvSpPr txBox="1"/>
          <p:nvPr/>
        </p:nvSpPr>
        <p:spPr>
          <a:xfrm>
            <a:off x="368300" y="849531"/>
            <a:ext cx="11203214" cy="6124754"/>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Designing an Effective Database Schema: </a:t>
            </a:r>
            <a:r>
              <a:rPr lang="en-US" sz="2600" dirty="0">
                <a:latin typeface="Times New Roman" panose="02020603050405020304" pitchFamily="18" charset="0"/>
                <a:cs typeface="Times New Roman" panose="02020603050405020304" pitchFamily="18" charset="0"/>
              </a:rPr>
              <a:t>One of the initial hurdles was designing a database schema that could accurately represent the complex relationships between customers, orders, products, and suppliers. Ensuring that the tables were properly linked with primary and foreign keys was crucial for data integrity and for the success of the analysis. It required careful planning to avoid data redundancy and to make sure that all necessary business operations could be tracked.</a:t>
            </a:r>
            <a:endParaRPr lang="en-US" sz="2600" b="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Writing Complex SQL Queries with Multiple Joins: </a:t>
            </a:r>
            <a:r>
              <a:rPr lang="en-US" sz="2600" dirty="0">
                <a:latin typeface="Times New Roman" panose="02020603050405020304" pitchFamily="18" charset="0"/>
                <a:cs typeface="Times New Roman" panose="02020603050405020304" pitchFamily="18" charset="0"/>
              </a:rPr>
              <a:t>As the analysis questions became more detailed, the SQL queries required to extract the answers grew in complexity. For instance, to find out which supplier contributed the most to the sales of a specific product category, it was necessary to join multiple tables, including products, categories, supplier, and </a:t>
            </a:r>
            <a:r>
              <a:rPr lang="en-US" sz="2600" dirty="0" err="1">
                <a:latin typeface="Times New Roman" panose="02020603050405020304" pitchFamily="18" charset="0"/>
                <a:cs typeface="Times New Roman" panose="02020603050405020304" pitchFamily="18" charset="0"/>
              </a:rPr>
              <a:t>order_details</a:t>
            </a:r>
            <a:r>
              <a:rPr lang="en-US" sz="2600" dirty="0">
                <a:latin typeface="Times New Roman" panose="02020603050405020304" pitchFamily="18" charset="0"/>
                <a:cs typeface="Times New Roman" panose="02020603050405020304" pitchFamily="18" charset="0"/>
              </a:rPr>
              <a:t>. Structuring these joins correctly and ensuring they were optimized for performance was a significant challenge.</a:t>
            </a:r>
          </a:p>
          <a:p>
            <a:br>
              <a:rPr lang="en-US" dirty="0"/>
            </a:br>
            <a:endParaRPr lang="en-IN" dirty="0"/>
          </a:p>
        </p:txBody>
      </p:sp>
    </p:spTree>
    <p:extLst>
      <p:ext uri="{BB962C8B-B14F-4D97-AF65-F5344CB8AC3E}">
        <p14:creationId xmlns:p14="http://schemas.microsoft.com/office/powerpoint/2010/main" val="3239209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9D38-22D1-B641-658F-EC5192E5D435}"/>
              </a:ext>
            </a:extLst>
          </p:cNvPr>
          <p:cNvSpPr>
            <a:spLocks noGrp="1"/>
          </p:cNvSpPr>
          <p:nvPr>
            <p:ph type="title"/>
          </p:nvPr>
        </p:nvSpPr>
        <p:spPr>
          <a:xfrm>
            <a:off x="174172" y="74855"/>
            <a:ext cx="4528457" cy="631371"/>
          </a:xfrm>
        </p:spPr>
        <p:txBody>
          <a:bodyPr>
            <a:normAutofit fontScale="90000"/>
          </a:bodyPr>
          <a:lstStyle/>
          <a:p>
            <a:r>
              <a:rPr lang="en-IN" b="1" dirty="0">
                <a:solidFill>
                  <a:srgbClr val="FF0000"/>
                </a:solidFill>
              </a:rPr>
              <a:t>Key Insights :</a:t>
            </a:r>
            <a:endParaRPr lang="en-IN" dirty="0"/>
          </a:p>
        </p:txBody>
      </p:sp>
      <p:sp>
        <p:nvSpPr>
          <p:cNvPr id="3" name="TextBox 2">
            <a:extLst>
              <a:ext uri="{FF2B5EF4-FFF2-40B4-BE49-F238E27FC236}">
                <a16:creationId xmlns:a16="http://schemas.microsoft.com/office/drawing/2014/main" id="{44A01BEE-4C45-AD49-7201-52B03CA55862}"/>
              </a:ext>
            </a:extLst>
          </p:cNvPr>
          <p:cNvSpPr txBox="1"/>
          <p:nvPr/>
        </p:nvSpPr>
        <p:spPr>
          <a:xfrm>
            <a:off x="174172" y="662684"/>
            <a:ext cx="11582400" cy="621708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Focus on High-Value Customers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minority of customers generate the majority of the store's revenue. By identifying these top customers, the business can create targeted loyalty programs and personalized marketing campaigns. This will not only retain them but also encourage further spending, maximizing their lifetime value.</a:t>
            </a:r>
          </a:p>
          <a:p>
            <a:r>
              <a:rPr lang="en-US" sz="2400" b="1" dirty="0">
                <a:latin typeface="Times New Roman" panose="02020603050405020304" pitchFamily="18" charset="0"/>
                <a:cs typeface="Times New Roman" panose="02020603050405020304" pitchFamily="18" charset="0"/>
              </a:rPr>
              <a:t>Promote High-Performing Categories :</a:t>
            </a:r>
            <a:br>
              <a:rPr lang="en-US" sz="2400" b="1"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"Personal Care" and "Grains &amp; Cereals" categories are the primary revenue drivers. This insight allows the store to optimize inventory by ensuring these popular items are always in stock. Additionally, these categories should be featured in promotional materials and given prime placement in the store to further boost sales.</a:t>
            </a:r>
          </a:p>
          <a:p>
            <a:r>
              <a:rPr lang="en-US" sz="2400" b="1" dirty="0">
                <a:latin typeface="Times New Roman" panose="02020603050405020304" pitchFamily="18" charset="0"/>
                <a:cs typeface="Times New Roman" panose="02020603050405020304" pitchFamily="18" charset="0"/>
              </a:rPr>
              <a:t>Strengthen and Diversify Supplier Relationships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single supplier, Aarya, is the top revenue contributor across multiple key categories, highlighting a critical business dependency. The store should prioritize building a stronger partnership with Aarya. At the same time, it is essential to identify and onboard alternative suppliers for high-demand products to mitigate supply chain risks and maintain competitive pricing.</a:t>
            </a:r>
          </a:p>
          <a:p>
            <a:endParaRPr lang="en-IN" sz="1600" dirty="0"/>
          </a:p>
        </p:txBody>
      </p:sp>
    </p:spTree>
    <p:extLst>
      <p:ext uri="{BB962C8B-B14F-4D97-AF65-F5344CB8AC3E}">
        <p14:creationId xmlns:p14="http://schemas.microsoft.com/office/powerpoint/2010/main" val="2430793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a:extLst>
            <a:ext uri="{FF2B5EF4-FFF2-40B4-BE49-F238E27FC236}">
              <a16:creationId xmlns:a16="http://schemas.microsoft.com/office/drawing/2014/main" id="{46459591-7091-6C38-DB61-FA3C2C2E26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2E102D-2ECE-8B47-AB51-6036B2AA12B3}"/>
              </a:ext>
            </a:extLst>
          </p:cNvPr>
          <p:cNvSpPr txBox="1"/>
          <p:nvPr/>
        </p:nvSpPr>
        <p:spPr>
          <a:xfrm>
            <a:off x="368300" y="203200"/>
            <a:ext cx="6210300" cy="646331"/>
          </a:xfrm>
          <a:prstGeom prst="rect">
            <a:avLst/>
          </a:prstGeom>
          <a:noFill/>
        </p:spPr>
        <p:txBody>
          <a:bodyPr wrap="square" rtlCol="0">
            <a:spAutoFit/>
          </a:bodyPr>
          <a:lstStyle/>
          <a:p>
            <a:r>
              <a:rPr lang="en-IN" sz="3600" b="1" dirty="0">
                <a:solidFill>
                  <a:srgbClr val="FF0000"/>
                </a:solidFill>
              </a:rPr>
              <a:t>Conclusion :</a:t>
            </a:r>
            <a:endParaRPr lang="en-IN" sz="3600" dirty="0"/>
          </a:p>
        </p:txBody>
      </p:sp>
      <p:sp>
        <p:nvSpPr>
          <p:cNvPr id="3" name="TextBox 2">
            <a:extLst>
              <a:ext uri="{FF2B5EF4-FFF2-40B4-BE49-F238E27FC236}">
                <a16:creationId xmlns:a16="http://schemas.microsoft.com/office/drawing/2014/main" id="{F3F01EC3-8D02-E819-3168-65C0EADC2674}"/>
              </a:ext>
            </a:extLst>
          </p:cNvPr>
          <p:cNvSpPr txBox="1"/>
          <p:nvPr/>
        </p:nvSpPr>
        <p:spPr>
          <a:xfrm>
            <a:off x="495300" y="1217831"/>
            <a:ext cx="11201400" cy="3970318"/>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This project successfully demonstrated how SQL can be used to transform raw sales data into valuable business intelligence. The analysis provided a clear view of the store's performance by identifying key trends and patterns.</a:t>
            </a:r>
          </a:p>
          <a:p>
            <a:r>
              <a:rPr lang="en-US" sz="2800" dirty="0">
                <a:latin typeface="Times New Roman" panose="02020603050405020304" pitchFamily="18" charset="0"/>
                <a:cs typeface="Times New Roman" panose="02020603050405020304" pitchFamily="18" charset="0"/>
              </a:rPr>
              <a:t>Key Findings: We pinpointed our most valuable customers, identified the top-selling products and categories, and gained a better understanding of sales cycles.</a:t>
            </a:r>
          </a:p>
          <a:p>
            <a:r>
              <a:rPr lang="en-US" sz="2800" dirty="0">
                <a:latin typeface="Times New Roman" panose="02020603050405020304" pitchFamily="18" charset="0"/>
                <a:cs typeface="Times New Roman" panose="02020603050405020304" pitchFamily="18" charset="0"/>
              </a:rPr>
              <a:t>Business Impact: These insights are directly actionable. They enable the store to make data-driven decisions regarding inventory management, targeted marketing campaigns, and strategic supplier relationships.</a:t>
            </a:r>
          </a:p>
        </p:txBody>
      </p:sp>
    </p:spTree>
    <p:extLst>
      <p:ext uri="{BB962C8B-B14F-4D97-AF65-F5344CB8AC3E}">
        <p14:creationId xmlns:p14="http://schemas.microsoft.com/office/powerpoint/2010/main" val="3951511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7379263" y="468264"/>
            <a:ext cx="4465643" cy="2834317"/>
          </a:xfrm>
          <a:prstGeom prst="rect">
            <a:avLst/>
          </a:prstGeom>
          <a:noFill/>
          <a:ln>
            <a:noFill/>
          </a:ln>
        </p:spPr>
      </p:pic>
      <p:sp>
        <p:nvSpPr>
          <p:cNvPr id="117" name="Google Shape;117;p5"/>
          <p:cNvSpPr txBox="1"/>
          <p:nvPr/>
        </p:nvSpPr>
        <p:spPr>
          <a:xfrm>
            <a:off x="982093" y="4325838"/>
            <a:ext cx="3131457" cy="1486190"/>
          </a:xfrm>
          <a:prstGeom prst="rect">
            <a:avLst/>
          </a:prstGeom>
          <a:solidFill>
            <a:schemeClr val="accent2">
              <a:lumMod val="40000"/>
              <a:lumOff val="60000"/>
            </a:scheme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C00000"/>
              </a:buClr>
              <a:buSzPts val="4400"/>
              <a:buFont typeface="Libre Baskerville"/>
              <a:buNone/>
            </a:pPr>
            <a:r>
              <a:rPr lang="en-IN" sz="4400" b="0" i="0" u="none" strike="noStrike" cap="none" dirty="0">
                <a:solidFill>
                  <a:schemeClr val="tx1"/>
                </a:solidFill>
                <a:latin typeface="Libre Baskerville"/>
                <a:ea typeface="Libre Baskerville"/>
                <a:cs typeface="Libre Baskerville"/>
                <a:sym typeface="Libre Baskerville"/>
              </a:rPr>
              <a:t>THANK YOU</a:t>
            </a:r>
            <a:endParaRPr sz="1800" b="0" i="0" u="none" strike="noStrike" cap="none" dirty="0">
              <a:solidFill>
                <a:schemeClr val="tx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1098</TotalTime>
  <Words>1100</Words>
  <Application>Microsoft Office PowerPoint</Application>
  <PresentationFormat>Widescreen</PresentationFormat>
  <Paragraphs>72</Paragraphs>
  <Slides>28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Libre Baskerville</vt:lpstr>
      <vt:lpstr>Times New Roman</vt:lpstr>
      <vt:lpstr>Calibri</vt:lpstr>
      <vt:lpstr>Arial</vt:lpstr>
      <vt:lpstr>Lato Black</vt:lpstr>
      <vt:lpstr>Office Theme</vt:lpstr>
      <vt:lpstr>PowerPoint Presentation</vt:lpstr>
      <vt:lpstr>PowerPoint Presentation</vt:lpstr>
      <vt:lpstr>Objectives of the Project</vt:lpstr>
      <vt:lpstr> ER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supplier who contribute the most of revenue of a specific category</vt:lpstr>
      <vt:lpstr>PowerPoint Presentation</vt:lpstr>
      <vt:lpstr>PowerPoint Presentation</vt:lpstr>
      <vt:lpstr>PowerPoint Presentation</vt:lpstr>
      <vt:lpstr>PowerPoint Presentation</vt:lpstr>
      <vt:lpstr>PowerPoint Presentation</vt:lpstr>
      <vt:lpstr>PowerPoint Presentation</vt:lpstr>
      <vt:lpstr>Key Insights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Reddy Kishore.  S</cp:lastModifiedBy>
  <cp:revision>24</cp:revision>
  <dcterms:created xsi:type="dcterms:W3CDTF">2021-02-16T05:19:01Z</dcterms:created>
  <dcterms:modified xsi:type="dcterms:W3CDTF">2025-09-17T11:15:50Z</dcterms:modified>
</cp:coreProperties>
</file>